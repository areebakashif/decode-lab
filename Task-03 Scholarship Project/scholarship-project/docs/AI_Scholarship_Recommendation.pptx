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E276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692640" y="-1280160"/>
            <a:ext cx="4114800" cy="4114800"/>
          </a:xfrm>
          <a:prstGeom prst="ellipse">
            <a:avLst/>
          </a:prstGeom>
          <a:solidFill>
            <a:srgbClr val="263876"/>
          </a:solidFill>
          <a:ln/>
        </p:spPr>
      </p:sp>
      <p:sp>
        <p:nvSpPr>
          <p:cNvPr id="3" name="Shape 1"/>
          <p:cNvSpPr/>
          <p:nvPr/>
        </p:nvSpPr>
        <p:spPr>
          <a:xfrm>
            <a:off x="10698480" y="4572000"/>
            <a:ext cx="2743200" cy="2743200"/>
          </a:xfrm>
          <a:prstGeom prst="ellipse">
            <a:avLst/>
          </a:prstGeom>
          <a:solidFill>
            <a:srgbClr val="263876"/>
          </a:solidFill>
          <a:ln/>
        </p:spPr>
      </p:sp>
      <p:sp>
        <p:nvSpPr>
          <p:cNvPr id="4" name="Shape 2"/>
          <p:cNvSpPr/>
          <p:nvPr/>
        </p:nvSpPr>
        <p:spPr>
          <a:xfrm>
            <a:off x="-1097280" y="5120640"/>
            <a:ext cx="2926080" cy="2926080"/>
          </a:xfrm>
          <a:prstGeom prst="ellipse">
            <a:avLst/>
          </a:prstGeom>
          <a:solidFill>
            <a:srgbClr val="263876"/>
          </a:solidFill>
          <a:ln/>
        </p:spPr>
      </p:sp>
      <p:sp>
        <p:nvSpPr>
          <p:cNvPr id="5" name="Shape 3"/>
          <p:cNvSpPr/>
          <p:nvPr/>
        </p:nvSpPr>
        <p:spPr>
          <a:xfrm>
            <a:off x="640080" y="685800"/>
            <a:ext cx="685800" cy="685800"/>
          </a:xfrm>
          <a:prstGeom prst="ellipse">
            <a:avLst/>
          </a:prstGeom>
          <a:solidFill>
            <a:srgbClr val="F2A93B"/>
          </a:solidFill>
          <a:ln/>
        </p:spPr>
      </p:sp>
      <p:sp>
        <p:nvSpPr>
          <p:cNvPr id="6" name="Text 4"/>
          <p:cNvSpPr/>
          <p:nvPr/>
        </p:nvSpPr>
        <p:spPr>
          <a:xfrm>
            <a:off x="640080" y="685800"/>
            <a:ext cx="6858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1B1B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🎓</a:t>
            </a:r>
            <a:endParaRPr lang="en-US" sz="3000" dirty="0"/>
          </a:p>
        </p:txBody>
      </p:sp>
      <p:sp>
        <p:nvSpPr>
          <p:cNvPr id="7" name="Text 5"/>
          <p:cNvSpPr/>
          <p:nvPr/>
        </p:nvSpPr>
        <p:spPr>
          <a:xfrm>
            <a:off x="640080" y="2331720"/>
            <a:ext cx="960120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lnSpc>
                <a:spcPct val="102000"/>
              </a:lnSpc>
              <a:buNone/>
            </a:pPr>
            <a:r>
              <a:rPr lang="en-US" sz="4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AI SCHOLARSHIP RECOMMENDATION</a:t>
            </a:r>
            <a:endParaRPr lang="en-US" sz="4400" dirty="0"/>
          </a:p>
        </p:txBody>
      </p:sp>
      <p:sp>
        <p:nvSpPr>
          <p:cNvPr id="8" name="Text 6"/>
          <p:cNvSpPr/>
          <p:nvPr/>
        </p:nvSpPr>
        <p:spPr>
          <a:xfrm>
            <a:off x="640080" y="3611880"/>
            <a:ext cx="86868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6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content-based recommendation system that matches students to</a:t>
            </a:r>
            <a:endParaRPr lang="en-US" sz="1600" dirty="0"/>
          </a:p>
          <a:p>
            <a:pPr algn="l" indent="0" marL="0">
              <a:lnSpc>
                <a:spcPct val="115000"/>
              </a:lnSpc>
              <a:buNone/>
            </a:pPr>
            <a:r>
              <a:rPr lang="en-US" sz="16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scholarships using logic building, pattern matching &amp; similarity scoring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640080" y="580644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F2A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Python  •  Pandas  •  Scikit-learn  •  TF-IDF  •  Cosine Similarity</a:t>
            </a:r>
            <a:endParaRPr lang="en-US" sz="13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73152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Goal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548640" y="1143000"/>
            <a:ext cx="822960" cy="54864"/>
          </a:xfrm>
          <a:prstGeom prst="rect">
            <a:avLst/>
          </a:prstGeom>
          <a:solidFill>
            <a:srgbClr val="F2A93B"/>
          </a:solidFill>
          <a:ln/>
        </p:spPr>
      </p:sp>
      <p:sp>
        <p:nvSpPr>
          <p:cNvPr id="4" name="Text 2"/>
          <p:cNvSpPr/>
          <p:nvPr/>
        </p:nvSpPr>
        <p:spPr>
          <a:xfrm>
            <a:off x="548640" y="1554480"/>
            <a:ext cx="6035040" cy="1920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1600" dirty="0">
                <a:solidFill>
                  <a:srgbClr val="1B1B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Create a simple recommendation system that takes a student's preferences and interests, and intelligently suggests the scholarships that best fit their profile — reducing hours of manual searching to a few seconds.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548640" y="3749040"/>
            <a:ext cx="1920240" cy="1371600"/>
          </a:xfrm>
          <a:prstGeom prst="roundRect">
            <a:avLst>
              <a:gd name="adj" fmla="val 5333"/>
            </a:avLst>
          </a:prstGeom>
          <a:solidFill>
            <a:srgbClr val="F5F7FC"/>
          </a:solidFill>
          <a:ln/>
        </p:spPr>
      </p:sp>
      <p:sp>
        <p:nvSpPr>
          <p:cNvPr id="6" name="Text 4"/>
          <p:cNvSpPr/>
          <p:nvPr/>
        </p:nvSpPr>
        <p:spPr>
          <a:xfrm>
            <a:off x="548640" y="3886200"/>
            <a:ext cx="19202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50+</a:t>
            </a:r>
            <a:endParaRPr lang="en-US" sz="3000" dirty="0"/>
          </a:p>
        </p:txBody>
      </p:sp>
      <p:sp>
        <p:nvSpPr>
          <p:cNvPr id="7" name="Text 5"/>
          <p:cNvSpPr/>
          <p:nvPr/>
        </p:nvSpPr>
        <p:spPr>
          <a:xfrm>
            <a:off x="640080" y="4526280"/>
            <a:ext cx="17373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Scholarships in dataset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2651760" y="3749040"/>
            <a:ext cx="1920240" cy="1371600"/>
          </a:xfrm>
          <a:prstGeom prst="roundRect">
            <a:avLst>
              <a:gd name="adj" fmla="val 5333"/>
            </a:avLst>
          </a:prstGeom>
          <a:solidFill>
            <a:srgbClr val="F5F7FC"/>
          </a:solidFill>
          <a:ln/>
        </p:spPr>
      </p:sp>
      <p:sp>
        <p:nvSpPr>
          <p:cNvPr id="9" name="Text 7"/>
          <p:cNvSpPr/>
          <p:nvPr/>
        </p:nvSpPr>
        <p:spPr>
          <a:xfrm>
            <a:off x="2651760" y="3886200"/>
            <a:ext cx="19202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</a:t>
            </a:r>
            <a:endParaRPr lang="en-US" sz="3000" dirty="0"/>
          </a:p>
        </p:txBody>
      </p:sp>
      <p:sp>
        <p:nvSpPr>
          <p:cNvPr id="10" name="Text 8"/>
          <p:cNvSpPr/>
          <p:nvPr/>
        </p:nvSpPr>
        <p:spPr>
          <a:xfrm>
            <a:off x="2743200" y="4526280"/>
            <a:ext cx="17373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 input criteria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4754880" y="3749040"/>
            <a:ext cx="1920240" cy="1371600"/>
          </a:xfrm>
          <a:prstGeom prst="roundRect">
            <a:avLst>
              <a:gd name="adj" fmla="val 5333"/>
            </a:avLst>
          </a:prstGeom>
          <a:solidFill>
            <a:srgbClr val="F5F7FC"/>
          </a:solidFill>
          <a:ln/>
        </p:spPr>
      </p:sp>
      <p:sp>
        <p:nvSpPr>
          <p:cNvPr id="12" name="Text 10"/>
          <p:cNvSpPr/>
          <p:nvPr/>
        </p:nvSpPr>
        <p:spPr>
          <a:xfrm>
            <a:off x="4754880" y="3886200"/>
            <a:ext cx="19202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&lt;1s</a:t>
            </a:r>
            <a:endParaRPr lang="en-US" sz="3000" dirty="0"/>
          </a:p>
        </p:txBody>
      </p:sp>
      <p:sp>
        <p:nvSpPr>
          <p:cNvPr id="13" name="Text 11"/>
          <p:cNvSpPr/>
          <p:nvPr/>
        </p:nvSpPr>
        <p:spPr>
          <a:xfrm>
            <a:off x="4846320" y="4526280"/>
            <a:ext cx="17373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 generate matches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7040880" y="1463040"/>
            <a:ext cx="4572000" cy="4663440"/>
          </a:xfrm>
          <a:prstGeom prst="roundRect">
            <a:avLst>
              <a:gd name="adj" fmla="val 2400"/>
            </a:avLst>
          </a:prstGeom>
          <a:solidFill>
            <a:srgbClr val="1E2761"/>
          </a:solidFill>
          <a:ln/>
        </p:spPr>
      </p:sp>
      <p:sp>
        <p:nvSpPr>
          <p:cNvPr id="15" name="Shape 13"/>
          <p:cNvSpPr/>
          <p:nvPr/>
        </p:nvSpPr>
        <p:spPr>
          <a:xfrm>
            <a:off x="7452360" y="1920240"/>
            <a:ext cx="548640" cy="548640"/>
          </a:xfrm>
          <a:prstGeom prst="ellipse">
            <a:avLst/>
          </a:prstGeom>
          <a:solidFill>
            <a:srgbClr val="F2A93B"/>
          </a:solidFill>
          <a:ln/>
        </p:spPr>
      </p:sp>
      <p:sp>
        <p:nvSpPr>
          <p:cNvPr id="16" name="Text 14"/>
          <p:cNvSpPr/>
          <p:nvPr/>
        </p:nvSpPr>
        <p:spPr>
          <a:xfrm>
            <a:off x="7452360" y="1920240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1B1B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🎯</a:t>
            </a:r>
            <a:endParaRPr lang="en-US" sz="2400" dirty="0"/>
          </a:p>
        </p:txBody>
      </p:sp>
      <p:sp>
        <p:nvSpPr>
          <p:cNvPr id="17" name="Text 15"/>
          <p:cNvSpPr/>
          <p:nvPr/>
        </p:nvSpPr>
        <p:spPr>
          <a:xfrm>
            <a:off x="8138160" y="1938528"/>
            <a:ext cx="32918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Why it matters</a:t>
            </a:r>
            <a:endParaRPr lang="en-US" sz="1700" dirty="0"/>
          </a:p>
        </p:txBody>
      </p:sp>
      <p:sp>
        <p:nvSpPr>
          <p:cNvPr id="18" name="Shape 16"/>
          <p:cNvSpPr/>
          <p:nvPr/>
        </p:nvSpPr>
        <p:spPr>
          <a:xfrm>
            <a:off x="7452360" y="2834640"/>
            <a:ext cx="128016" cy="128016"/>
          </a:xfrm>
          <a:prstGeom prst="ellipse">
            <a:avLst/>
          </a:prstGeom>
          <a:solidFill>
            <a:srgbClr val="F2A93B"/>
          </a:solidFill>
          <a:ln/>
        </p:spPr>
      </p:sp>
      <p:sp>
        <p:nvSpPr>
          <p:cNvPr id="19" name="Text 17"/>
          <p:cNvSpPr/>
          <p:nvPr/>
        </p:nvSpPr>
        <p:spPr>
          <a:xfrm>
            <a:off x="7772400" y="2651760"/>
            <a:ext cx="35661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Thousands of scholarships exist, but students rarely know which ones fit them</a:t>
            </a:r>
            <a:endParaRPr lang="en-US" sz="1250" dirty="0"/>
          </a:p>
        </p:txBody>
      </p:sp>
      <p:sp>
        <p:nvSpPr>
          <p:cNvPr id="20" name="Shape 18"/>
          <p:cNvSpPr/>
          <p:nvPr/>
        </p:nvSpPr>
        <p:spPr>
          <a:xfrm>
            <a:off x="7452360" y="3886200"/>
            <a:ext cx="128016" cy="128016"/>
          </a:xfrm>
          <a:prstGeom prst="ellipse">
            <a:avLst/>
          </a:prstGeom>
          <a:solidFill>
            <a:srgbClr val="F2A93B"/>
          </a:solidFill>
          <a:ln/>
        </p:spPr>
      </p:sp>
      <p:sp>
        <p:nvSpPr>
          <p:cNvPr id="21" name="Text 19"/>
          <p:cNvSpPr/>
          <p:nvPr/>
        </p:nvSpPr>
        <p:spPr>
          <a:xfrm>
            <a:off x="7772400" y="3703320"/>
            <a:ext cx="35661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Manual searching is slow, repetitive, and easy to miss opportunities in</a:t>
            </a:r>
            <a:endParaRPr lang="en-US" sz="1250" dirty="0"/>
          </a:p>
        </p:txBody>
      </p:sp>
      <p:sp>
        <p:nvSpPr>
          <p:cNvPr id="22" name="Shape 20"/>
          <p:cNvSpPr/>
          <p:nvPr/>
        </p:nvSpPr>
        <p:spPr>
          <a:xfrm>
            <a:off x="7452360" y="4937760"/>
            <a:ext cx="128016" cy="128016"/>
          </a:xfrm>
          <a:prstGeom prst="ellipse">
            <a:avLst/>
          </a:prstGeom>
          <a:solidFill>
            <a:srgbClr val="F2A93B"/>
          </a:solidFill>
          <a:ln/>
        </p:spPr>
      </p:sp>
      <p:sp>
        <p:nvSpPr>
          <p:cNvPr id="23" name="Text 21"/>
          <p:cNvSpPr/>
          <p:nvPr/>
        </p:nvSpPr>
        <p:spPr>
          <a:xfrm>
            <a:off x="7772400" y="4754880"/>
            <a:ext cx="35661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guided, logic-driven match increases successful applications</a:t>
            </a:r>
            <a:endParaRPr lang="en-US" sz="1250" dirty="0"/>
          </a:p>
        </p:txBody>
      </p:sp>
      <p:sp>
        <p:nvSpPr>
          <p:cNvPr id="24" name="Text 22"/>
          <p:cNvSpPr/>
          <p:nvPr/>
        </p:nvSpPr>
        <p:spPr>
          <a:xfrm>
            <a:off x="457200" y="653796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Scholarship Recommendation System</a:t>
            </a:r>
            <a:endParaRPr lang="en-US" sz="900" dirty="0"/>
          </a:p>
        </p:txBody>
      </p:sp>
      <p:sp>
        <p:nvSpPr>
          <p:cNvPr id="25" name="Text 23"/>
          <p:cNvSpPr/>
          <p:nvPr/>
        </p:nvSpPr>
        <p:spPr>
          <a:xfrm>
            <a:off x="11521440" y="6537960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73152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Key Requirements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548640" y="1143000"/>
            <a:ext cx="822960" cy="54864"/>
          </a:xfrm>
          <a:prstGeom prst="rect">
            <a:avLst/>
          </a:prstGeom>
          <a:solidFill>
            <a:srgbClr val="F2A93B"/>
          </a:solidFill>
          <a:ln/>
        </p:spPr>
      </p:sp>
      <p:sp>
        <p:nvSpPr>
          <p:cNvPr id="4" name="Shape 2"/>
          <p:cNvSpPr/>
          <p:nvPr/>
        </p:nvSpPr>
        <p:spPr>
          <a:xfrm>
            <a:off x="548640" y="1737360"/>
            <a:ext cx="3611880" cy="4206240"/>
          </a:xfrm>
          <a:prstGeom prst="roundRect">
            <a:avLst>
              <a:gd name="adj" fmla="val 2532"/>
            </a:avLst>
          </a:prstGeom>
          <a:solidFill>
            <a:srgbClr val="F5F7FC"/>
          </a:solidFill>
          <a:ln/>
        </p:spPr>
      </p:sp>
      <p:sp>
        <p:nvSpPr>
          <p:cNvPr id="5" name="Shape 3"/>
          <p:cNvSpPr/>
          <p:nvPr/>
        </p:nvSpPr>
        <p:spPr>
          <a:xfrm>
            <a:off x="868680" y="2057400"/>
            <a:ext cx="731520" cy="731520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6" name="Text 4"/>
          <p:cNvSpPr/>
          <p:nvPr/>
        </p:nvSpPr>
        <p:spPr>
          <a:xfrm>
            <a:off x="868680" y="2057400"/>
            <a:ext cx="7315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⌨️</a:t>
            </a:r>
            <a:endParaRPr lang="en-US" sz="2800" dirty="0"/>
          </a:p>
        </p:txBody>
      </p:sp>
      <p:sp>
        <p:nvSpPr>
          <p:cNvPr id="7" name="Text 5"/>
          <p:cNvSpPr/>
          <p:nvPr/>
        </p:nvSpPr>
        <p:spPr>
          <a:xfrm>
            <a:off x="868680" y="2971800"/>
            <a:ext cx="30175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Take user input</a:t>
            </a:r>
            <a:endParaRPr lang="en-US" sz="1700" dirty="0"/>
          </a:p>
        </p:txBody>
      </p:sp>
      <p:sp>
        <p:nvSpPr>
          <p:cNvPr id="8" name="Text 6"/>
          <p:cNvSpPr/>
          <p:nvPr/>
        </p:nvSpPr>
        <p:spPr>
          <a:xfrm>
            <a:off x="868680" y="3520440"/>
            <a:ext cx="3017520" cy="2103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250" dirty="0">
                <a:solidFill>
                  <a:srgbClr val="1B1B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Collects interests, education level, marks, gender, and family income through a simple CLI flow.</a:t>
            </a:r>
            <a:endParaRPr lang="en-US" sz="1250" dirty="0"/>
          </a:p>
        </p:txBody>
      </p:sp>
      <p:sp>
        <p:nvSpPr>
          <p:cNvPr id="9" name="Shape 7"/>
          <p:cNvSpPr/>
          <p:nvPr/>
        </p:nvSpPr>
        <p:spPr>
          <a:xfrm>
            <a:off x="4434840" y="1737360"/>
            <a:ext cx="3611880" cy="4206240"/>
          </a:xfrm>
          <a:prstGeom prst="roundRect">
            <a:avLst>
              <a:gd name="adj" fmla="val 2532"/>
            </a:avLst>
          </a:prstGeom>
          <a:solidFill>
            <a:srgbClr val="F5F7FC"/>
          </a:solidFill>
          <a:ln/>
        </p:spPr>
      </p:sp>
      <p:sp>
        <p:nvSpPr>
          <p:cNvPr id="10" name="Shape 8"/>
          <p:cNvSpPr/>
          <p:nvPr/>
        </p:nvSpPr>
        <p:spPr>
          <a:xfrm>
            <a:off x="4754880" y="2057400"/>
            <a:ext cx="731520" cy="731520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11" name="Text 9"/>
          <p:cNvSpPr/>
          <p:nvPr/>
        </p:nvSpPr>
        <p:spPr>
          <a:xfrm>
            <a:off x="4754880" y="2057400"/>
            <a:ext cx="7315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🔎</a:t>
            </a:r>
            <a:endParaRPr lang="en-US" sz="2800" dirty="0"/>
          </a:p>
        </p:txBody>
      </p:sp>
      <p:sp>
        <p:nvSpPr>
          <p:cNvPr id="12" name="Text 10"/>
          <p:cNvSpPr/>
          <p:nvPr/>
        </p:nvSpPr>
        <p:spPr>
          <a:xfrm>
            <a:off x="4754880" y="2971800"/>
            <a:ext cx="30175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Match preferences</a:t>
            </a:r>
            <a:endParaRPr lang="en-US" sz="1700" dirty="0"/>
          </a:p>
        </p:txBody>
      </p:sp>
      <p:sp>
        <p:nvSpPr>
          <p:cNvPr id="13" name="Text 11"/>
          <p:cNvSpPr/>
          <p:nvPr/>
        </p:nvSpPr>
        <p:spPr>
          <a:xfrm>
            <a:off x="4754880" y="3520440"/>
            <a:ext cx="3017520" cy="2103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250" dirty="0">
                <a:solidFill>
                  <a:srgbClr val="1B1B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Uses rule-based logic for hard eligibility checks, plus similarity scoring for interest matching.</a:t>
            </a:r>
            <a:endParaRPr lang="en-US" sz="1250" dirty="0"/>
          </a:p>
        </p:txBody>
      </p:sp>
      <p:sp>
        <p:nvSpPr>
          <p:cNvPr id="14" name="Shape 12"/>
          <p:cNvSpPr/>
          <p:nvPr/>
        </p:nvSpPr>
        <p:spPr>
          <a:xfrm>
            <a:off x="8321040" y="1737360"/>
            <a:ext cx="3611880" cy="4206240"/>
          </a:xfrm>
          <a:prstGeom prst="roundRect">
            <a:avLst>
              <a:gd name="adj" fmla="val 2532"/>
            </a:avLst>
          </a:prstGeom>
          <a:solidFill>
            <a:srgbClr val="F5F7FC"/>
          </a:solidFill>
          <a:ln/>
        </p:spPr>
      </p:sp>
      <p:sp>
        <p:nvSpPr>
          <p:cNvPr id="15" name="Shape 13"/>
          <p:cNvSpPr/>
          <p:nvPr/>
        </p:nvSpPr>
        <p:spPr>
          <a:xfrm>
            <a:off x="8641080" y="2057400"/>
            <a:ext cx="731520" cy="731520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16" name="Text 14"/>
          <p:cNvSpPr/>
          <p:nvPr/>
        </p:nvSpPr>
        <p:spPr>
          <a:xfrm>
            <a:off x="8641080" y="2057400"/>
            <a:ext cx="7315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📃</a:t>
            </a:r>
            <a:endParaRPr lang="en-US" sz="2800" dirty="0"/>
          </a:p>
        </p:txBody>
      </p:sp>
      <p:sp>
        <p:nvSpPr>
          <p:cNvPr id="17" name="Text 15"/>
          <p:cNvSpPr/>
          <p:nvPr/>
        </p:nvSpPr>
        <p:spPr>
          <a:xfrm>
            <a:off x="8641080" y="2971800"/>
            <a:ext cx="30175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Display recommendations</a:t>
            </a:r>
            <a:endParaRPr lang="en-US" sz="1700" dirty="0"/>
          </a:p>
        </p:txBody>
      </p:sp>
      <p:sp>
        <p:nvSpPr>
          <p:cNvPr id="18" name="Text 16"/>
          <p:cNvSpPr/>
          <p:nvPr/>
        </p:nvSpPr>
        <p:spPr>
          <a:xfrm>
            <a:off x="8641080" y="3520440"/>
            <a:ext cx="3017520" cy="2103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250" dirty="0">
                <a:solidFill>
                  <a:srgbClr val="1B1B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Returns a ranked top-N list of scholarships with a clear match score for each.</a:t>
            </a:r>
            <a:endParaRPr lang="en-US" sz="1250" dirty="0"/>
          </a:p>
        </p:txBody>
      </p:sp>
      <p:sp>
        <p:nvSpPr>
          <p:cNvPr id="19" name="Text 17"/>
          <p:cNvSpPr/>
          <p:nvPr/>
        </p:nvSpPr>
        <p:spPr>
          <a:xfrm>
            <a:off x="457200" y="653796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Scholarship Recommendation System</a:t>
            </a:r>
            <a:endParaRPr lang="en-US" sz="900" dirty="0"/>
          </a:p>
        </p:txBody>
      </p:sp>
      <p:sp>
        <p:nvSpPr>
          <p:cNvPr id="20" name="Text 18"/>
          <p:cNvSpPr/>
          <p:nvPr/>
        </p:nvSpPr>
        <p:spPr>
          <a:xfrm>
            <a:off x="11521440" y="6537960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1E276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Key Skills Demonstrated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548640" y="1143000"/>
            <a:ext cx="822960" cy="54864"/>
          </a:xfrm>
          <a:prstGeom prst="rect">
            <a:avLst/>
          </a:prstGeom>
          <a:solidFill>
            <a:srgbClr val="F2A93B"/>
          </a:solidFill>
          <a:ln/>
        </p:spPr>
      </p:sp>
      <p:sp>
        <p:nvSpPr>
          <p:cNvPr id="4" name="Shape 2"/>
          <p:cNvSpPr/>
          <p:nvPr/>
        </p:nvSpPr>
        <p:spPr>
          <a:xfrm>
            <a:off x="548640" y="1920240"/>
            <a:ext cx="3611880" cy="3931920"/>
          </a:xfrm>
          <a:prstGeom prst="roundRect">
            <a:avLst>
              <a:gd name="adj" fmla="val 2532"/>
            </a:avLst>
          </a:prstGeom>
          <a:solidFill>
            <a:srgbClr val="263876"/>
          </a:solidFill>
          <a:ln/>
        </p:spPr>
      </p:sp>
      <p:sp>
        <p:nvSpPr>
          <p:cNvPr id="5" name="Shape 3"/>
          <p:cNvSpPr/>
          <p:nvPr/>
        </p:nvSpPr>
        <p:spPr>
          <a:xfrm>
            <a:off x="868680" y="2286000"/>
            <a:ext cx="731520" cy="731520"/>
          </a:xfrm>
          <a:prstGeom prst="ellipse">
            <a:avLst/>
          </a:prstGeom>
          <a:solidFill>
            <a:srgbClr val="F2A93B"/>
          </a:solidFill>
          <a:ln/>
        </p:spPr>
      </p:sp>
      <p:sp>
        <p:nvSpPr>
          <p:cNvPr id="6" name="Text 4"/>
          <p:cNvSpPr/>
          <p:nvPr/>
        </p:nvSpPr>
        <p:spPr>
          <a:xfrm>
            <a:off x="868680" y="2286000"/>
            <a:ext cx="7315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1B1B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🧩</a:t>
            </a:r>
            <a:endParaRPr lang="en-US" sz="2800" dirty="0"/>
          </a:p>
        </p:txBody>
      </p:sp>
      <p:sp>
        <p:nvSpPr>
          <p:cNvPr id="7" name="Text 5"/>
          <p:cNvSpPr/>
          <p:nvPr/>
        </p:nvSpPr>
        <p:spPr>
          <a:xfrm>
            <a:off x="868680" y="3200400"/>
            <a:ext cx="30175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Logic Building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868680" y="3749040"/>
            <a:ext cx="3017520" cy="1920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2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Rule-based filters for education level, marks cutoff, gender &amp; income eligibility.</a:t>
            </a:r>
            <a:endParaRPr lang="en-US" sz="1250" dirty="0"/>
          </a:p>
        </p:txBody>
      </p:sp>
      <p:sp>
        <p:nvSpPr>
          <p:cNvPr id="9" name="Shape 7"/>
          <p:cNvSpPr/>
          <p:nvPr/>
        </p:nvSpPr>
        <p:spPr>
          <a:xfrm>
            <a:off x="4434840" y="1920240"/>
            <a:ext cx="3611880" cy="3931920"/>
          </a:xfrm>
          <a:prstGeom prst="roundRect">
            <a:avLst>
              <a:gd name="adj" fmla="val 2532"/>
            </a:avLst>
          </a:prstGeom>
          <a:solidFill>
            <a:srgbClr val="263876"/>
          </a:solidFill>
          <a:ln/>
        </p:spPr>
      </p:sp>
      <p:sp>
        <p:nvSpPr>
          <p:cNvPr id="10" name="Shape 8"/>
          <p:cNvSpPr/>
          <p:nvPr/>
        </p:nvSpPr>
        <p:spPr>
          <a:xfrm>
            <a:off x="4754880" y="2286000"/>
            <a:ext cx="731520" cy="731520"/>
          </a:xfrm>
          <a:prstGeom prst="ellipse">
            <a:avLst/>
          </a:prstGeom>
          <a:solidFill>
            <a:srgbClr val="F2A93B"/>
          </a:solidFill>
          <a:ln/>
        </p:spPr>
      </p:sp>
      <p:sp>
        <p:nvSpPr>
          <p:cNvPr id="11" name="Text 9"/>
          <p:cNvSpPr/>
          <p:nvPr/>
        </p:nvSpPr>
        <p:spPr>
          <a:xfrm>
            <a:off x="4754880" y="2286000"/>
            <a:ext cx="7315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1B1B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🧠</a:t>
            </a:r>
            <a:endParaRPr lang="en-US" sz="2800" dirty="0"/>
          </a:p>
        </p:txBody>
      </p:sp>
      <p:sp>
        <p:nvSpPr>
          <p:cNvPr id="12" name="Text 10"/>
          <p:cNvSpPr/>
          <p:nvPr/>
        </p:nvSpPr>
        <p:spPr>
          <a:xfrm>
            <a:off x="4754880" y="3200400"/>
            <a:ext cx="30175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Pattern Matching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4754880" y="3749040"/>
            <a:ext cx="3017520" cy="1920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2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TF-IDF turns text into vectors; cosine similarity finds the closest matches.</a:t>
            </a:r>
            <a:endParaRPr lang="en-US" sz="1250" dirty="0"/>
          </a:p>
        </p:txBody>
      </p:sp>
      <p:sp>
        <p:nvSpPr>
          <p:cNvPr id="14" name="Shape 12"/>
          <p:cNvSpPr/>
          <p:nvPr/>
        </p:nvSpPr>
        <p:spPr>
          <a:xfrm>
            <a:off x="8321040" y="1920240"/>
            <a:ext cx="3611880" cy="3931920"/>
          </a:xfrm>
          <a:prstGeom prst="roundRect">
            <a:avLst>
              <a:gd name="adj" fmla="val 2532"/>
            </a:avLst>
          </a:prstGeom>
          <a:solidFill>
            <a:srgbClr val="263876"/>
          </a:solidFill>
          <a:ln/>
        </p:spPr>
      </p:sp>
      <p:sp>
        <p:nvSpPr>
          <p:cNvPr id="15" name="Shape 13"/>
          <p:cNvSpPr/>
          <p:nvPr/>
        </p:nvSpPr>
        <p:spPr>
          <a:xfrm>
            <a:off x="8641080" y="2286000"/>
            <a:ext cx="731520" cy="731520"/>
          </a:xfrm>
          <a:prstGeom prst="ellipse">
            <a:avLst/>
          </a:prstGeom>
          <a:solidFill>
            <a:srgbClr val="F2A93B"/>
          </a:solidFill>
          <a:ln/>
        </p:spPr>
      </p:sp>
      <p:sp>
        <p:nvSpPr>
          <p:cNvPr id="16" name="Text 14"/>
          <p:cNvSpPr/>
          <p:nvPr/>
        </p:nvSpPr>
        <p:spPr>
          <a:xfrm>
            <a:off x="8641080" y="2286000"/>
            <a:ext cx="7315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1B1B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⭐</a:t>
            </a:r>
            <a:endParaRPr lang="en-US" sz="2800" dirty="0"/>
          </a:p>
        </p:txBody>
      </p:sp>
      <p:sp>
        <p:nvSpPr>
          <p:cNvPr id="17" name="Text 15"/>
          <p:cNvSpPr/>
          <p:nvPr/>
        </p:nvSpPr>
        <p:spPr>
          <a:xfrm>
            <a:off x="8641080" y="3200400"/>
            <a:ext cx="30175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Recommendation Concepts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8641080" y="3749040"/>
            <a:ext cx="3017520" cy="1920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2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Content-based filtering ranks results the way real-world recommender engines do.</a:t>
            </a:r>
            <a:endParaRPr lang="en-US" sz="1250" dirty="0"/>
          </a:p>
        </p:txBody>
      </p:sp>
      <p:sp>
        <p:nvSpPr>
          <p:cNvPr id="19" name="Text 17"/>
          <p:cNvSpPr/>
          <p:nvPr/>
        </p:nvSpPr>
        <p:spPr>
          <a:xfrm>
            <a:off x="457200" y="653796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Scholarship Recommendation System</a:t>
            </a:r>
            <a:endParaRPr lang="en-US" sz="900" dirty="0"/>
          </a:p>
        </p:txBody>
      </p:sp>
      <p:sp>
        <p:nvSpPr>
          <p:cNvPr id="20" name="Text 18"/>
          <p:cNvSpPr/>
          <p:nvPr/>
        </p:nvSpPr>
        <p:spPr>
          <a:xfrm>
            <a:off x="11521440" y="6537960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How the System Works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548640" y="1097280"/>
            <a:ext cx="822960" cy="54864"/>
          </a:xfrm>
          <a:prstGeom prst="rect">
            <a:avLst/>
          </a:prstGeom>
          <a:solidFill>
            <a:srgbClr val="F2A93B"/>
          </a:solidFill>
          <a:ln/>
        </p:spPr>
      </p:sp>
      <p:sp>
        <p:nvSpPr>
          <p:cNvPr id="4" name="Shape 2"/>
          <p:cNvSpPr/>
          <p:nvPr/>
        </p:nvSpPr>
        <p:spPr>
          <a:xfrm>
            <a:off x="548640" y="2286000"/>
            <a:ext cx="1965960" cy="1828800"/>
          </a:xfrm>
          <a:prstGeom prst="roundRect">
            <a:avLst>
              <a:gd name="adj" fmla="val 5000"/>
            </a:avLst>
          </a:prstGeom>
          <a:solidFill>
            <a:srgbClr val="1E2761"/>
          </a:solidFill>
          <a:ln/>
        </p:spPr>
      </p:sp>
      <p:sp>
        <p:nvSpPr>
          <p:cNvPr id="5" name="Text 3"/>
          <p:cNvSpPr/>
          <p:nvPr/>
        </p:nvSpPr>
        <p:spPr>
          <a:xfrm>
            <a:off x="658368" y="2377440"/>
            <a:ext cx="5486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658368" y="2880360"/>
            <a:ext cx="1746504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User Input</a:t>
            </a:r>
            <a:endParaRPr lang="en-US" sz="1350" dirty="0"/>
          </a:p>
        </p:txBody>
      </p:sp>
      <p:sp>
        <p:nvSpPr>
          <p:cNvPr id="7" name="Text 5"/>
          <p:cNvSpPr/>
          <p:nvPr/>
        </p:nvSpPr>
        <p:spPr>
          <a:xfrm>
            <a:off x="658368" y="3337560"/>
            <a:ext cx="1746504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Interests, level,</a:t>
            </a:r>
            <a:endParaRPr lang="en-US" sz="105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marks, gender, income</a:t>
            </a:r>
            <a:endParaRPr lang="en-US" sz="1050" dirty="0"/>
          </a:p>
        </p:txBody>
      </p:sp>
      <p:sp>
        <p:nvSpPr>
          <p:cNvPr id="8" name="Text 6"/>
          <p:cNvSpPr/>
          <p:nvPr/>
        </p:nvSpPr>
        <p:spPr>
          <a:xfrm>
            <a:off x="2487168" y="2880360"/>
            <a:ext cx="576072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2400" dirty="0"/>
          </a:p>
        </p:txBody>
      </p:sp>
      <p:sp>
        <p:nvSpPr>
          <p:cNvPr id="9" name="Shape 7"/>
          <p:cNvSpPr/>
          <p:nvPr/>
        </p:nvSpPr>
        <p:spPr>
          <a:xfrm>
            <a:off x="2770632" y="2286000"/>
            <a:ext cx="1965960" cy="1828800"/>
          </a:xfrm>
          <a:prstGeom prst="roundRect">
            <a:avLst>
              <a:gd name="adj" fmla="val 5000"/>
            </a:avLst>
          </a:prstGeom>
          <a:solidFill>
            <a:srgbClr val="1E2761"/>
          </a:solidFill>
          <a:ln/>
        </p:spPr>
      </p:sp>
      <p:sp>
        <p:nvSpPr>
          <p:cNvPr id="10" name="Text 8"/>
          <p:cNvSpPr/>
          <p:nvPr/>
        </p:nvSpPr>
        <p:spPr>
          <a:xfrm>
            <a:off x="2880360" y="2377440"/>
            <a:ext cx="5486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2200" dirty="0"/>
          </a:p>
        </p:txBody>
      </p:sp>
      <p:sp>
        <p:nvSpPr>
          <p:cNvPr id="11" name="Text 9"/>
          <p:cNvSpPr/>
          <p:nvPr/>
        </p:nvSpPr>
        <p:spPr>
          <a:xfrm>
            <a:off x="2880360" y="2880360"/>
            <a:ext cx="1746504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Rule-Based Filter</a:t>
            </a:r>
            <a:endParaRPr lang="en-US" sz="1350" dirty="0"/>
          </a:p>
        </p:txBody>
      </p:sp>
      <p:sp>
        <p:nvSpPr>
          <p:cNvPr id="12" name="Text 10"/>
          <p:cNvSpPr/>
          <p:nvPr/>
        </p:nvSpPr>
        <p:spPr>
          <a:xfrm>
            <a:off x="2880360" y="3337560"/>
            <a:ext cx="1746504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Removes scholarships</a:t>
            </a:r>
            <a:endParaRPr lang="en-US" sz="105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 isn't eligible for</a:t>
            </a:r>
            <a:endParaRPr lang="en-US" sz="1050" dirty="0"/>
          </a:p>
        </p:txBody>
      </p:sp>
      <p:sp>
        <p:nvSpPr>
          <p:cNvPr id="13" name="Text 11"/>
          <p:cNvSpPr/>
          <p:nvPr/>
        </p:nvSpPr>
        <p:spPr>
          <a:xfrm>
            <a:off x="4709160" y="2880360"/>
            <a:ext cx="576072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2400" dirty="0"/>
          </a:p>
        </p:txBody>
      </p:sp>
      <p:sp>
        <p:nvSpPr>
          <p:cNvPr id="14" name="Shape 12"/>
          <p:cNvSpPr/>
          <p:nvPr/>
        </p:nvSpPr>
        <p:spPr>
          <a:xfrm>
            <a:off x="4992624" y="2286000"/>
            <a:ext cx="1965960" cy="1828800"/>
          </a:xfrm>
          <a:prstGeom prst="roundRect">
            <a:avLst>
              <a:gd name="adj" fmla="val 5000"/>
            </a:avLst>
          </a:prstGeom>
          <a:solidFill>
            <a:srgbClr val="1E2761"/>
          </a:solidFill>
          <a:ln/>
        </p:spPr>
      </p:sp>
      <p:sp>
        <p:nvSpPr>
          <p:cNvPr id="15" name="Text 13"/>
          <p:cNvSpPr/>
          <p:nvPr/>
        </p:nvSpPr>
        <p:spPr>
          <a:xfrm>
            <a:off x="5102352" y="2377440"/>
            <a:ext cx="5486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2200" dirty="0"/>
          </a:p>
        </p:txBody>
      </p:sp>
      <p:sp>
        <p:nvSpPr>
          <p:cNvPr id="16" name="Text 14"/>
          <p:cNvSpPr/>
          <p:nvPr/>
        </p:nvSpPr>
        <p:spPr>
          <a:xfrm>
            <a:off x="5102352" y="2880360"/>
            <a:ext cx="1746504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TF-IDF Vectorize</a:t>
            </a:r>
            <a:endParaRPr lang="en-US" sz="1350" dirty="0"/>
          </a:p>
        </p:txBody>
      </p:sp>
      <p:sp>
        <p:nvSpPr>
          <p:cNvPr id="17" name="Text 15"/>
          <p:cNvSpPr/>
          <p:nvPr/>
        </p:nvSpPr>
        <p:spPr>
          <a:xfrm>
            <a:off x="5102352" y="3337560"/>
            <a:ext cx="1746504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Converts keywords &amp;</a:t>
            </a:r>
            <a:endParaRPr lang="en-US" sz="105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interests to numbers</a:t>
            </a:r>
            <a:endParaRPr lang="en-US" sz="1050" dirty="0"/>
          </a:p>
        </p:txBody>
      </p:sp>
      <p:sp>
        <p:nvSpPr>
          <p:cNvPr id="18" name="Text 16"/>
          <p:cNvSpPr/>
          <p:nvPr/>
        </p:nvSpPr>
        <p:spPr>
          <a:xfrm>
            <a:off x="6931152" y="2880360"/>
            <a:ext cx="576072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2400" dirty="0"/>
          </a:p>
        </p:txBody>
      </p:sp>
      <p:sp>
        <p:nvSpPr>
          <p:cNvPr id="19" name="Shape 17"/>
          <p:cNvSpPr/>
          <p:nvPr/>
        </p:nvSpPr>
        <p:spPr>
          <a:xfrm>
            <a:off x="7214616" y="2286000"/>
            <a:ext cx="1965960" cy="1828800"/>
          </a:xfrm>
          <a:prstGeom prst="roundRect">
            <a:avLst>
              <a:gd name="adj" fmla="val 5000"/>
            </a:avLst>
          </a:prstGeom>
          <a:solidFill>
            <a:srgbClr val="1E2761"/>
          </a:solidFill>
          <a:ln/>
        </p:spPr>
      </p:sp>
      <p:sp>
        <p:nvSpPr>
          <p:cNvPr id="20" name="Text 18"/>
          <p:cNvSpPr/>
          <p:nvPr/>
        </p:nvSpPr>
        <p:spPr>
          <a:xfrm>
            <a:off x="7324344" y="2377440"/>
            <a:ext cx="5486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2200" dirty="0"/>
          </a:p>
        </p:txBody>
      </p:sp>
      <p:sp>
        <p:nvSpPr>
          <p:cNvPr id="21" name="Text 19"/>
          <p:cNvSpPr/>
          <p:nvPr/>
        </p:nvSpPr>
        <p:spPr>
          <a:xfrm>
            <a:off x="7324344" y="2880360"/>
            <a:ext cx="1746504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Cosine Similarity</a:t>
            </a:r>
            <a:endParaRPr lang="en-US" sz="1350" dirty="0"/>
          </a:p>
        </p:txBody>
      </p:sp>
      <p:sp>
        <p:nvSpPr>
          <p:cNvPr id="22" name="Text 20"/>
          <p:cNvSpPr/>
          <p:nvPr/>
        </p:nvSpPr>
        <p:spPr>
          <a:xfrm>
            <a:off x="7324344" y="3337560"/>
            <a:ext cx="1746504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Scores closeness of</a:t>
            </a:r>
            <a:endParaRPr lang="en-US" sz="105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interests to each option</a:t>
            </a:r>
            <a:endParaRPr lang="en-US" sz="1050" dirty="0"/>
          </a:p>
        </p:txBody>
      </p:sp>
      <p:sp>
        <p:nvSpPr>
          <p:cNvPr id="23" name="Text 21"/>
          <p:cNvSpPr/>
          <p:nvPr/>
        </p:nvSpPr>
        <p:spPr>
          <a:xfrm>
            <a:off x="9153144" y="2880360"/>
            <a:ext cx="576072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2400" dirty="0"/>
          </a:p>
        </p:txBody>
      </p:sp>
      <p:sp>
        <p:nvSpPr>
          <p:cNvPr id="24" name="Shape 22"/>
          <p:cNvSpPr/>
          <p:nvPr/>
        </p:nvSpPr>
        <p:spPr>
          <a:xfrm>
            <a:off x="9436608" y="2286000"/>
            <a:ext cx="1965960" cy="1828800"/>
          </a:xfrm>
          <a:prstGeom prst="roundRect">
            <a:avLst>
              <a:gd name="adj" fmla="val 5000"/>
            </a:avLst>
          </a:prstGeom>
          <a:solidFill>
            <a:srgbClr val="F2A93B"/>
          </a:solidFill>
          <a:ln/>
        </p:spPr>
      </p:sp>
      <p:sp>
        <p:nvSpPr>
          <p:cNvPr id="25" name="Text 23"/>
          <p:cNvSpPr/>
          <p:nvPr/>
        </p:nvSpPr>
        <p:spPr>
          <a:xfrm>
            <a:off x="9546336" y="2377440"/>
            <a:ext cx="5486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B1B2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</a:t>
            </a:r>
            <a:endParaRPr lang="en-US" sz="2200" dirty="0"/>
          </a:p>
        </p:txBody>
      </p:sp>
      <p:sp>
        <p:nvSpPr>
          <p:cNvPr id="26" name="Text 24"/>
          <p:cNvSpPr/>
          <p:nvPr/>
        </p:nvSpPr>
        <p:spPr>
          <a:xfrm>
            <a:off x="9546336" y="2880360"/>
            <a:ext cx="1746504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B1B2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Ranked Results</a:t>
            </a:r>
            <a:endParaRPr lang="en-US" sz="1350" dirty="0"/>
          </a:p>
        </p:txBody>
      </p:sp>
      <p:sp>
        <p:nvSpPr>
          <p:cNvPr id="27" name="Text 25"/>
          <p:cNvSpPr/>
          <p:nvPr/>
        </p:nvSpPr>
        <p:spPr>
          <a:xfrm>
            <a:off x="9546336" y="3337560"/>
            <a:ext cx="1746504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1B1B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Top-N scholarships</a:t>
            </a:r>
            <a:endParaRPr lang="en-US" sz="105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1B1B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by match score %</a:t>
            </a:r>
            <a:endParaRPr lang="en-US" sz="1050" dirty="0"/>
          </a:p>
        </p:txBody>
      </p:sp>
      <p:sp>
        <p:nvSpPr>
          <p:cNvPr id="28" name="Shape 26"/>
          <p:cNvSpPr/>
          <p:nvPr/>
        </p:nvSpPr>
        <p:spPr>
          <a:xfrm>
            <a:off x="548640" y="4617720"/>
            <a:ext cx="11064240" cy="1371600"/>
          </a:xfrm>
          <a:prstGeom prst="roundRect">
            <a:avLst>
              <a:gd name="adj" fmla="val 6667"/>
            </a:avLst>
          </a:prstGeom>
          <a:solidFill>
            <a:srgbClr val="F5F7FC"/>
          </a:solidFill>
          <a:ln/>
        </p:spPr>
      </p:sp>
      <p:sp>
        <p:nvSpPr>
          <p:cNvPr id="29" name="Text 27"/>
          <p:cNvSpPr/>
          <p:nvPr/>
        </p:nvSpPr>
        <p:spPr>
          <a:xfrm>
            <a:off x="822960" y="4754880"/>
            <a:ext cx="105156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350" i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This mirrors real-world content-based recommenders (e.g. “because you watched…”) — just applied to scholarships, at a scale that's easy to understand and extend.</a:t>
            </a:r>
            <a:endParaRPr lang="en-US" sz="1350" dirty="0"/>
          </a:p>
        </p:txBody>
      </p:sp>
      <p:sp>
        <p:nvSpPr>
          <p:cNvPr id="30" name="Text 28"/>
          <p:cNvSpPr/>
          <p:nvPr/>
        </p:nvSpPr>
        <p:spPr>
          <a:xfrm>
            <a:off x="457200" y="653796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Scholarship Recommendation System</a:t>
            </a:r>
            <a:endParaRPr lang="en-US" sz="900" dirty="0"/>
          </a:p>
        </p:txBody>
      </p:sp>
      <p:sp>
        <p:nvSpPr>
          <p:cNvPr id="31" name="Text 29"/>
          <p:cNvSpPr/>
          <p:nvPr/>
        </p:nvSpPr>
        <p:spPr>
          <a:xfrm>
            <a:off x="11521440" y="6537960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73152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Dataset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548640" y="1097280"/>
            <a:ext cx="822960" cy="54864"/>
          </a:xfrm>
          <a:prstGeom prst="rect">
            <a:avLst/>
          </a:prstGeom>
          <a:solidFill>
            <a:srgbClr val="F2A93B"/>
          </a:solidFill>
          <a:ln/>
        </p:spPr>
      </p:sp>
      <p:sp>
        <p:nvSpPr>
          <p:cNvPr id="4" name="Text 2"/>
          <p:cNvSpPr/>
          <p:nvPr/>
        </p:nvSpPr>
        <p:spPr>
          <a:xfrm>
            <a:off x="548640" y="128016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data/scholarships.csv  —  50 sample scholarship records</a:t>
            </a:r>
            <a:endParaRPr lang="en-US" sz="1300" dirty="0"/>
          </a:p>
        </p:txBody>
      </p:sp>
      <p:graphicFrame>
        <p:nvGraphicFramePr>
          <p:cNvPr id="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783080"/>
          <a:ext cx="7315200" cy="4572000"/>
        </p:xfrm>
        <a:graphic>
          <a:graphicData uri="http://schemas.openxmlformats.org/drawingml/2006/table">
            <a:tbl>
              <a:tblPr/>
              <a:tblGrid>
                <a:gridCol w="2377440"/>
                <a:gridCol w="1188720"/>
                <a:gridCol w="3749040"/>
              </a:tblGrid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</a:rPr>
                        <a:t>Column</a:t>
                      </a:r>
                      <a:endParaRPr lang="en-US" sz="1200" dirty="0"/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E2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</a:rPr>
                        <a:t>Type</a:t>
                      </a:r>
                      <a:endParaRPr lang="en-US" sz="1200" dirty="0"/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E2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</a:rPr>
                        <a:t>Description</a:t>
                      </a:r>
                      <a:endParaRPr lang="en-US" sz="1200" dirty="0"/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E2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B1B2F"/>
                          </a:solidFill>
                        </a:rPr>
                        <a:t>Scholarship_Name</a:t>
                      </a:r>
                      <a:endParaRPr lang="en-US" sz="1100" dirty="0"/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E2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B1B2F"/>
                          </a:solidFill>
                        </a:rPr>
                        <a:t>Text</a:t>
                      </a:r>
                      <a:endParaRPr lang="en-US" sz="1100" dirty="0"/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E2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B1B2F"/>
                          </a:solidFill>
                        </a:rPr>
                        <a:t>Name of the scholarship</a:t>
                      </a:r>
                      <a:endParaRPr lang="en-US" sz="1100" dirty="0"/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E2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B1B2F"/>
                          </a:solidFill>
                        </a:rPr>
                        <a:t>Field_of_Study</a:t>
                      </a:r>
                      <a:endParaRPr lang="en-US" sz="1100" dirty="0"/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E2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B1B2F"/>
                          </a:solidFill>
                        </a:rPr>
                        <a:t>Text</a:t>
                      </a:r>
                      <a:endParaRPr lang="en-US" sz="1100" dirty="0"/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E2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B1B2F"/>
                          </a:solidFill>
                        </a:rPr>
                        <a:t>e.g. Computer Science, Medicine, Law</a:t>
                      </a:r>
                      <a:endParaRPr lang="en-US" sz="1100" dirty="0"/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E2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C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B1B2F"/>
                          </a:solidFill>
                        </a:rPr>
                        <a:t>Education_Level</a:t>
                      </a:r>
                      <a:endParaRPr lang="en-US" sz="1100" dirty="0"/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E2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B1B2F"/>
                          </a:solidFill>
                        </a:rPr>
                        <a:t>Category</a:t>
                      </a:r>
                      <a:endParaRPr lang="en-US" sz="1100" dirty="0"/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E2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B1B2F"/>
                          </a:solidFill>
                        </a:rPr>
                        <a:t>Undergraduate / Postgraduate</a:t>
                      </a:r>
                      <a:endParaRPr lang="en-US" sz="1100" dirty="0"/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E2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B1B2F"/>
                          </a:solidFill>
                        </a:rPr>
                        <a:t>Category</a:t>
                      </a:r>
                      <a:endParaRPr lang="en-US" sz="1100" dirty="0"/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E2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B1B2F"/>
                          </a:solidFill>
                        </a:rPr>
                        <a:t>Category</a:t>
                      </a:r>
                      <a:endParaRPr lang="en-US" sz="1100" dirty="0"/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E2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B1B2F"/>
                          </a:solidFill>
                        </a:rPr>
                        <a:t>Merit-Based / Need-Based / Sports / Diversity</a:t>
                      </a:r>
                      <a:endParaRPr lang="en-US" sz="1100" dirty="0"/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E2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C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B1B2F"/>
                          </a:solidFill>
                        </a:rPr>
                        <a:t>Min_Percentage</a:t>
                      </a:r>
                      <a:endParaRPr lang="en-US" sz="1100" dirty="0"/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E2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B1B2F"/>
                          </a:solidFill>
                        </a:rPr>
                        <a:t>Number</a:t>
                      </a:r>
                      <a:endParaRPr lang="en-US" sz="1100" dirty="0"/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E2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B1B2F"/>
                          </a:solidFill>
                        </a:rPr>
                        <a:t>Minimum marks required to qualify</a:t>
                      </a:r>
                      <a:endParaRPr lang="en-US" sz="1100" dirty="0"/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E2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B1B2F"/>
                          </a:solidFill>
                        </a:rPr>
                        <a:t>Max_Family_Income_USD</a:t>
                      </a:r>
                      <a:endParaRPr lang="en-US" sz="1100" dirty="0"/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E2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B1B2F"/>
                          </a:solidFill>
                        </a:rPr>
                        <a:t>Number</a:t>
                      </a:r>
                      <a:endParaRPr lang="en-US" sz="1100" dirty="0"/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E2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B1B2F"/>
                          </a:solidFill>
                        </a:rPr>
                        <a:t>Income ceiling for need-based aid</a:t>
                      </a:r>
                      <a:endParaRPr lang="en-US" sz="1100" dirty="0"/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E2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C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B1B2F"/>
                          </a:solidFill>
                        </a:rPr>
                        <a:t>Amount_USD</a:t>
                      </a:r>
                      <a:endParaRPr lang="en-US" sz="1100" dirty="0"/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E2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B1B2F"/>
                          </a:solidFill>
                        </a:rPr>
                        <a:t>Number</a:t>
                      </a:r>
                      <a:endParaRPr lang="en-US" sz="1100" dirty="0"/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E2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B1B2F"/>
                          </a:solidFill>
                        </a:rPr>
                        <a:t>Scholarship award amount</a:t>
                      </a:r>
                      <a:endParaRPr lang="en-US" sz="1100" dirty="0"/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E2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B1B2F"/>
                          </a:solidFill>
                        </a:rPr>
                        <a:t>Gender_Eligibility</a:t>
                      </a:r>
                      <a:endParaRPr lang="en-US" sz="1100" dirty="0"/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E2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B1B2F"/>
                          </a:solidFill>
                        </a:rPr>
                        <a:t>Category</a:t>
                      </a:r>
                      <a:endParaRPr lang="en-US" sz="1100" dirty="0"/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E2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B1B2F"/>
                          </a:solidFill>
                        </a:rPr>
                        <a:t>All / Male / Female</a:t>
                      </a:r>
                      <a:endParaRPr lang="en-US" sz="1100" dirty="0"/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E2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C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B1B2F"/>
                          </a:solidFill>
                        </a:rPr>
                        <a:t>Keywords</a:t>
                      </a:r>
                      <a:endParaRPr lang="en-US" sz="1100" dirty="0"/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E2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B1B2F"/>
                          </a:solidFill>
                        </a:rPr>
                        <a:t>Text</a:t>
                      </a:r>
                      <a:endParaRPr lang="en-US" sz="1100" dirty="0"/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E2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B1B2F"/>
                          </a:solidFill>
                        </a:rPr>
                        <a:t>Used for TF-IDF similarity matching</a:t>
                      </a:r>
                      <a:endParaRPr lang="en-US" sz="1100" dirty="0"/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E2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6" name="Shape 3"/>
          <p:cNvSpPr/>
          <p:nvPr/>
        </p:nvSpPr>
        <p:spPr>
          <a:xfrm>
            <a:off x="8183880" y="1783080"/>
            <a:ext cx="3429000" cy="4572000"/>
          </a:xfrm>
          <a:prstGeom prst="roundRect">
            <a:avLst>
              <a:gd name="adj" fmla="val 2667"/>
            </a:avLst>
          </a:prstGeom>
          <a:solidFill>
            <a:srgbClr val="1E2761"/>
          </a:solidFill>
          <a:ln/>
        </p:spPr>
      </p:sp>
      <p:sp>
        <p:nvSpPr>
          <p:cNvPr id="7" name="Text 4"/>
          <p:cNvSpPr/>
          <p:nvPr/>
        </p:nvSpPr>
        <p:spPr>
          <a:xfrm>
            <a:off x="8412480" y="1965960"/>
            <a:ext cx="30175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2A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SAMPLE RECORD</a:t>
            </a:r>
            <a:endParaRPr lang="en-US" sz="1100" dirty="0"/>
          </a:p>
        </p:txBody>
      </p:sp>
      <p:sp>
        <p:nvSpPr>
          <p:cNvPr id="8" name="Text 5"/>
          <p:cNvSpPr/>
          <p:nvPr/>
        </p:nvSpPr>
        <p:spPr>
          <a:xfrm>
            <a:off x="8412480" y="2423160"/>
            <a:ext cx="30175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National Merit Tech Scholarship</a:t>
            </a:r>
            <a:endParaRPr lang="en-US" sz="1400" dirty="0"/>
          </a:p>
        </p:txBody>
      </p:sp>
      <p:sp>
        <p:nvSpPr>
          <p:cNvPr id="9" name="Text 6"/>
          <p:cNvSpPr/>
          <p:nvPr/>
        </p:nvSpPr>
        <p:spPr>
          <a:xfrm>
            <a:off x="8412480" y="3017520"/>
            <a:ext cx="30175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Field: Computer Science</a:t>
            </a:r>
            <a:endParaRPr lang="en-US" sz="1150" dirty="0"/>
          </a:p>
        </p:txBody>
      </p:sp>
      <p:sp>
        <p:nvSpPr>
          <p:cNvPr id="10" name="Text 7"/>
          <p:cNvSpPr/>
          <p:nvPr/>
        </p:nvSpPr>
        <p:spPr>
          <a:xfrm>
            <a:off x="8412480" y="3401568"/>
            <a:ext cx="30175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Level: Undergraduate</a:t>
            </a:r>
            <a:endParaRPr lang="en-US" sz="1150" dirty="0"/>
          </a:p>
        </p:txBody>
      </p:sp>
      <p:sp>
        <p:nvSpPr>
          <p:cNvPr id="11" name="Text 8"/>
          <p:cNvSpPr/>
          <p:nvPr/>
        </p:nvSpPr>
        <p:spPr>
          <a:xfrm>
            <a:off x="8412480" y="3785616"/>
            <a:ext cx="30175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Category: Merit-Based</a:t>
            </a:r>
            <a:endParaRPr lang="en-US" sz="1150" dirty="0"/>
          </a:p>
        </p:txBody>
      </p:sp>
      <p:sp>
        <p:nvSpPr>
          <p:cNvPr id="12" name="Text 9"/>
          <p:cNvSpPr/>
          <p:nvPr/>
        </p:nvSpPr>
        <p:spPr>
          <a:xfrm>
            <a:off x="8412480" y="4169664"/>
            <a:ext cx="30175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Min %: 85</a:t>
            </a:r>
            <a:endParaRPr lang="en-US" sz="1150" dirty="0"/>
          </a:p>
        </p:txBody>
      </p:sp>
      <p:sp>
        <p:nvSpPr>
          <p:cNvPr id="13" name="Text 10"/>
          <p:cNvSpPr/>
          <p:nvPr/>
        </p:nvSpPr>
        <p:spPr>
          <a:xfrm>
            <a:off x="8412480" y="4553712"/>
            <a:ext cx="30175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Amount: $5,000</a:t>
            </a:r>
            <a:endParaRPr lang="en-US" sz="1150" dirty="0"/>
          </a:p>
        </p:txBody>
      </p:sp>
      <p:sp>
        <p:nvSpPr>
          <p:cNvPr id="14" name="Text 11"/>
          <p:cNvSpPr/>
          <p:nvPr/>
        </p:nvSpPr>
        <p:spPr>
          <a:xfrm>
            <a:off x="8412480" y="4937760"/>
            <a:ext cx="30175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Country: USA</a:t>
            </a:r>
            <a:endParaRPr lang="en-US" sz="1150" dirty="0"/>
          </a:p>
        </p:txBody>
      </p:sp>
      <p:sp>
        <p:nvSpPr>
          <p:cNvPr id="15" name="Text 12"/>
          <p:cNvSpPr/>
          <p:nvPr/>
        </p:nvSpPr>
        <p:spPr>
          <a:xfrm>
            <a:off x="8412480" y="5321808"/>
            <a:ext cx="30175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Keywords: programming, AI,</a:t>
            </a:r>
            <a:endParaRPr lang="en-US" sz="115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software, coding, technology</a:t>
            </a:r>
            <a:endParaRPr lang="en-US" sz="1150" dirty="0"/>
          </a:p>
        </p:txBody>
      </p:sp>
      <p:sp>
        <p:nvSpPr>
          <p:cNvPr id="16" name="Text 13"/>
          <p:cNvSpPr/>
          <p:nvPr/>
        </p:nvSpPr>
        <p:spPr>
          <a:xfrm>
            <a:off x="457200" y="653796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Scholarship Recommendation System</a:t>
            </a:r>
            <a:endParaRPr lang="en-US" sz="900" dirty="0"/>
          </a:p>
        </p:txBody>
      </p:sp>
      <p:sp>
        <p:nvSpPr>
          <p:cNvPr id="17" name="Text 14"/>
          <p:cNvSpPr/>
          <p:nvPr/>
        </p:nvSpPr>
        <p:spPr>
          <a:xfrm>
            <a:off x="11521440" y="6537960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Recommendation Logic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548640" y="1097280"/>
            <a:ext cx="822960" cy="54864"/>
          </a:xfrm>
          <a:prstGeom prst="rect">
            <a:avLst/>
          </a:prstGeom>
          <a:solidFill>
            <a:srgbClr val="F2A93B"/>
          </a:solidFill>
          <a:ln/>
        </p:spPr>
      </p:sp>
      <p:sp>
        <p:nvSpPr>
          <p:cNvPr id="4" name="Shape 2"/>
          <p:cNvSpPr/>
          <p:nvPr/>
        </p:nvSpPr>
        <p:spPr>
          <a:xfrm>
            <a:off x="548640" y="1600200"/>
            <a:ext cx="411480" cy="411480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5" name="Text 3"/>
          <p:cNvSpPr/>
          <p:nvPr/>
        </p:nvSpPr>
        <p:spPr>
          <a:xfrm>
            <a:off x="548640" y="1600200"/>
            <a:ext cx="411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1143000" y="1554480"/>
            <a:ext cx="44805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Rule-Based Filtering</a:t>
            </a:r>
            <a:endParaRPr lang="en-US" sz="1450" dirty="0"/>
          </a:p>
        </p:txBody>
      </p:sp>
      <p:sp>
        <p:nvSpPr>
          <p:cNvPr id="7" name="Text 5"/>
          <p:cNvSpPr/>
          <p:nvPr/>
        </p:nvSpPr>
        <p:spPr>
          <a:xfrm>
            <a:off x="1143000" y="1920240"/>
            <a:ext cx="448056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150" dirty="0">
                <a:solidFill>
                  <a:srgbClr val="1B1B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Hard eligibility checks: education level, minimum percentage, gender, income cap.</a:t>
            </a:r>
            <a:endParaRPr lang="en-US" sz="1150" dirty="0"/>
          </a:p>
        </p:txBody>
      </p:sp>
      <p:sp>
        <p:nvSpPr>
          <p:cNvPr id="8" name="Shape 6"/>
          <p:cNvSpPr/>
          <p:nvPr/>
        </p:nvSpPr>
        <p:spPr>
          <a:xfrm>
            <a:off x="548640" y="2770632"/>
            <a:ext cx="411480" cy="411480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9" name="Text 7"/>
          <p:cNvSpPr/>
          <p:nvPr/>
        </p:nvSpPr>
        <p:spPr>
          <a:xfrm>
            <a:off x="548640" y="2770632"/>
            <a:ext cx="411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1143000" y="2724912"/>
            <a:ext cx="44805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TF-IDF Vectorization</a:t>
            </a:r>
            <a:endParaRPr lang="en-US" sz="1450" dirty="0"/>
          </a:p>
        </p:txBody>
      </p:sp>
      <p:sp>
        <p:nvSpPr>
          <p:cNvPr id="11" name="Text 9"/>
          <p:cNvSpPr/>
          <p:nvPr/>
        </p:nvSpPr>
        <p:spPr>
          <a:xfrm>
            <a:off x="1143000" y="3090672"/>
            <a:ext cx="448056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150" dirty="0">
                <a:solidFill>
                  <a:srgbClr val="1B1B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Scholarship keywords + user interests are converted into weighted numeric vectors.</a:t>
            </a:r>
            <a:endParaRPr lang="en-US" sz="1150" dirty="0"/>
          </a:p>
        </p:txBody>
      </p:sp>
      <p:sp>
        <p:nvSpPr>
          <p:cNvPr id="12" name="Shape 10"/>
          <p:cNvSpPr/>
          <p:nvPr/>
        </p:nvSpPr>
        <p:spPr>
          <a:xfrm>
            <a:off x="548640" y="3941064"/>
            <a:ext cx="411480" cy="411480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13" name="Text 11"/>
          <p:cNvSpPr/>
          <p:nvPr/>
        </p:nvSpPr>
        <p:spPr>
          <a:xfrm>
            <a:off x="548640" y="3941064"/>
            <a:ext cx="411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1143000" y="3895344"/>
            <a:ext cx="44805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Cosine Similarity</a:t>
            </a:r>
            <a:endParaRPr lang="en-US" sz="1450" dirty="0"/>
          </a:p>
        </p:txBody>
      </p:sp>
      <p:sp>
        <p:nvSpPr>
          <p:cNvPr id="15" name="Text 13"/>
          <p:cNvSpPr/>
          <p:nvPr/>
        </p:nvSpPr>
        <p:spPr>
          <a:xfrm>
            <a:off x="1143000" y="4261104"/>
            <a:ext cx="448056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150" dirty="0">
                <a:solidFill>
                  <a:srgbClr val="1B1B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Measures the angle between vectors — closer to 1.0 means a stronger interest match.</a:t>
            </a:r>
            <a:endParaRPr lang="en-US" sz="1150" dirty="0"/>
          </a:p>
        </p:txBody>
      </p:sp>
      <p:sp>
        <p:nvSpPr>
          <p:cNvPr id="16" name="Shape 14"/>
          <p:cNvSpPr/>
          <p:nvPr/>
        </p:nvSpPr>
        <p:spPr>
          <a:xfrm>
            <a:off x="548640" y="5111496"/>
            <a:ext cx="411480" cy="411480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17" name="Text 15"/>
          <p:cNvSpPr/>
          <p:nvPr/>
        </p:nvSpPr>
        <p:spPr>
          <a:xfrm>
            <a:off x="548640" y="5111496"/>
            <a:ext cx="411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1143000" y="5065776"/>
            <a:ext cx="44805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Weighted Ranking</a:t>
            </a:r>
            <a:endParaRPr lang="en-US" sz="1450" dirty="0"/>
          </a:p>
        </p:txBody>
      </p:sp>
      <p:sp>
        <p:nvSpPr>
          <p:cNvPr id="19" name="Text 17"/>
          <p:cNvSpPr/>
          <p:nvPr/>
        </p:nvSpPr>
        <p:spPr>
          <a:xfrm>
            <a:off x="1143000" y="5431536"/>
            <a:ext cx="448056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150" dirty="0">
                <a:solidFill>
                  <a:srgbClr val="1B1B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Eligible scholarships are sorted by match score; top-N are returned to the user.</a:t>
            </a:r>
            <a:endParaRPr lang="en-US" sz="1150" dirty="0"/>
          </a:p>
        </p:txBody>
      </p:sp>
      <p:sp>
        <p:nvSpPr>
          <p:cNvPr id="20" name="Shape 18"/>
          <p:cNvSpPr/>
          <p:nvPr/>
        </p:nvSpPr>
        <p:spPr>
          <a:xfrm>
            <a:off x="5623560" y="1600200"/>
            <a:ext cx="5989320" cy="4754880"/>
          </a:xfrm>
          <a:prstGeom prst="roundRect">
            <a:avLst>
              <a:gd name="adj" fmla="val 1923"/>
            </a:avLst>
          </a:prstGeom>
          <a:solidFill>
            <a:srgbClr val="12163A"/>
          </a:solidFill>
          <a:ln/>
        </p:spPr>
      </p:sp>
      <p:sp>
        <p:nvSpPr>
          <p:cNvPr id="21" name="Shape 19"/>
          <p:cNvSpPr/>
          <p:nvPr/>
        </p:nvSpPr>
        <p:spPr>
          <a:xfrm>
            <a:off x="5897880" y="1828800"/>
            <a:ext cx="146304" cy="146304"/>
          </a:xfrm>
          <a:prstGeom prst="ellipse">
            <a:avLst/>
          </a:prstGeom>
          <a:solidFill>
            <a:srgbClr val="FF5F56"/>
          </a:solidFill>
          <a:ln/>
        </p:spPr>
      </p:sp>
      <p:sp>
        <p:nvSpPr>
          <p:cNvPr id="22" name="Shape 20"/>
          <p:cNvSpPr/>
          <p:nvPr/>
        </p:nvSpPr>
        <p:spPr>
          <a:xfrm>
            <a:off x="6108192" y="1828800"/>
            <a:ext cx="146304" cy="146304"/>
          </a:xfrm>
          <a:prstGeom prst="ellipse">
            <a:avLst/>
          </a:prstGeom>
          <a:solidFill>
            <a:srgbClr val="FFBD2E"/>
          </a:solidFill>
          <a:ln/>
        </p:spPr>
      </p:sp>
      <p:sp>
        <p:nvSpPr>
          <p:cNvPr id="23" name="Shape 21"/>
          <p:cNvSpPr/>
          <p:nvPr/>
        </p:nvSpPr>
        <p:spPr>
          <a:xfrm>
            <a:off x="6318504" y="1828800"/>
            <a:ext cx="146304" cy="146304"/>
          </a:xfrm>
          <a:prstGeom prst="ellipse">
            <a:avLst/>
          </a:prstGeom>
          <a:solidFill>
            <a:srgbClr val="27C93F"/>
          </a:solidFill>
          <a:ln/>
        </p:spPr>
      </p:sp>
      <p:sp>
        <p:nvSpPr>
          <p:cNvPr id="24" name="Text 22"/>
          <p:cNvSpPr/>
          <p:nvPr/>
        </p:nvSpPr>
        <p:spPr>
          <a:xfrm>
            <a:off x="5623560" y="1783080"/>
            <a:ext cx="5989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9CA3C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recommender.py</a:t>
            </a:r>
            <a:endParaRPr lang="en-US" sz="1050" dirty="0"/>
          </a:p>
        </p:txBody>
      </p:sp>
      <p:sp>
        <p:nvSpPr>
          <p:cNvPr id="25" name="Text 23"/>
          <p:cNvSpPr/>
          <p:nvPr/>
        </p:nvSpPr>
        <p:spPr>
          <a:xfrm>
            <a:off x="5852160" y="2240280"/>
            <a:ext cx="5532120" cy="3931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1150" dirty="0">
                <a:solidFill>
                  <a:srgbClr val="D7E0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vectorizer = TfidfVectorizer(stop_words="english")</a:t>
            </a:r>
            <a:endParaRPr lang="en-US" sz="1150" dirty="0"/>
          </a:p>
          <a:p>
            <a:pPr algn="l" indent="0" marL="0">
              <a:lnSpc>
                <a:spcPct val="125000"/>
              </a:lnSpc>
              <a:buNone/>
            </a:pPr>
            <a:r>
              <a:rPr lang="en-US" sz="1150" dirty="0">
                <a:solidFill>
                  <a:srgbClr val="D7E0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tfidf_matrix = vectorizer.fit_transform(</a:t>
            </a:r>
            <a:endParaRPr lang="en-US" sz="1150" dirty="0"/>
          </a:p>
          <a:p>
            <a:pPr algn="l" indent="0" marL="0">
              <a:lnSpc>
                <a:spcPct val="125000"/>
              </a:lnSpc>
              <a:buNone/>
            </a:pPr>
            <a:r>
              <a:rPr lang="en-US" sz="1150" dirty="0">
                <a:solidFill>
                  <a:srgbClr val="D7E0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df["combined_text"]</a:t>
            </a:r>
            <a:endParaRPr lang="en-US" sz="1150" dirty="0"/>
          </a:p>
          <a:p>
            <a:pPr algn="l" indent="0" marL="0">
              <a:lnSpc>
                <a:spcPct val="125000"/>
              </a:lnSpc>
              <a:buNone/>
            </a:pPr>
            <a:r>
              <a:rPr lang="en-US" sz="1150" dirty="0">
                <a:solidFill>
                  <a:srgbClr val="D7E0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</a:t>
            </a:r>
            <a:endParaRPr lang="en-US" sz="1150" dirty="0"/>
          </a:p>
          <a:p>
            <a:pPr algn="l" indent="0" marL="0">
              <a:lnSpc>
                <a:spcPct val="125000"/>
              </a:lnSpc>
              <a:buNone/>
            </a:pPr>
            <a:endParaRPr lang="en-US" sz="1150" dirty="0"/>
          </a:p>
          <a:p>
            <a:pPr algn="l" indent="0" marL="0">
              <a:lnSpc>
                <a:spcPct val="125000"/>
              </a:lnSpc>
              <a:buNone/>
            </a:pPr>
            <a:r>
              <a:rPr lang="en-US" sz="1150" dirty="0">
                <a:solidFill>
                  <a:srgbClr val="D7E0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def recommend(interests, level, pct, top_n=5):</a:t>
            </a:r>
            <a:endParaRPr lang="en-US" sz="1150" dirty="0"/>
          </a:p>
          <a:p>
            <a:pPr algn="l" indent="0" marL="0">
              <a:lnSpc>
                <a:spcPct val="125000"/>
              </a:lnSpc>
              <a:buNone/>
            </a:pPr>
            <a:r>
              <a:rPr lang="en-US" sz="1150" dirty="0">
                <a:solidFill>
                  <a:srgbClr val="D7E0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eligible = apply_rules(level, pct)</a:t>
            </a:r>
            <a:endParaRPr lang="en-US" sz="1150" dirty="0"/>
          </a:p>
          <a:p>
            <a:pPr algn="l" indent="0" marL="0">
              <a:lnSpc>
                <a:spcPct val="125000"/>
              </a:lnSpc>
              <a:buNone/>
            </a:pPr>
            <a:r>
              <a:rPr lang="en-US" sz="1150" dirty="0">
                <a:solidFill>
                  <a:srgbClr val="D7E0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user_vec = vectorizer.transform([interests])</a:t>
            </a:r>
            <a:endParaRPr lang="en-US" sz="1150" dirty="0"/>
          </a:p>
          <a:p>
            <a:pPr algn="l" indent="0" marL="0">
              <a:lnSpc>
                <a:spcPct val="125000"/>
              </a:lnSpc>
              <a:buNone/>
            </a:pPr>
            <a:r>
              <a:rPr lang="en-US" sz="1150" dirty="0">
                <a:solidFill>
                  <a:srgbClr val="D7E0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scores = cosine_similarity(</a:t>
            </a:r>
            <a:endParaRPr lang="en-US" sz="1150" dirty="0"/>
          </a:p>
          <a:p>
            <a:pPr algn="l" indent="0" marL="0">
              <a:lnSpc>
                <a:spcPct val="125000"/>
              </a:lnSpc>
              <a:buNone/>
            </a:pPr>
            <a:r>
              <a:rPr lang="en-US" sz="1150" dirty="0">
                <a:solidFill>
                  <a:srgbClr val="D7E0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user_vec, tfidf_matrix[eligible.index]</a:t>
            </a:r>
            <a:endParaRPr lang="en-US" sz="1150" dirty="0"/>
          </a:p>
          <a:p>
            <a:pPr algn="l" indent="0" marL="0">
              <a:lnSpc>
                <a:spcPct val="125000"/>
              </a:lnSpc>
              <a:buNone/>
            </a:pPr>
            <a:r>
              <a:rPr lang="en-US" sz="1150" dirty="0">
                <a:solidFill>
                  <a:srgbClr val="D7E0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)</a:t>
            </a:r>
            <a:endParaRPr lang="en-US" sz="1150" dirty="0"/>
          </a:p>
          <a:p>
            <a:pPr algn="l" indent="0" marL="0">
              <a:lnSpc>
                <a:spcPct val="125000"/>
              </a:lnSpc>
              <a:buNone/>
            </a:pPr>
            <a:r>
              <a:rPr lang="en-US" sz="1150" dirty="0">
                <a:solidFill>
                  <a:srgbClr val="D7E0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eligible["Match_Score"] = scores.flatten() * 100</a:t>
            </a:r>
            <a:endParaRPr lang="en-US" sz="1150" dirty="0"/>
          </a:p>
          <a:p>
            <a:pPr algn="l" indent="0" marL="0">
              <a:lnSpc>
                <a:spcPct val="125000"/>
              </a:lnSpc>
              <a:buNone/>
            </a:pPr>
            <a:r>
              <a:rPr lang="en-US" sz="1150" dirty="0">
                <a:solidFill>
                  <a:srgbClr val="D7E0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return eligible.sort_values(</a:t>
            </a:r>
            <a:endParaRPr lang="en-US" sz="1150" dirty="0"/>
          </a:p>
          <a:p>
            <a:pPr algn="l" indent="0" marL="0">
              <a:lnSpc>
                <a:spcPct val="125000"/>
              </a:lnSpc>
              <a:buNone/>
            </a:pPr>
            <a:r>
              <a:rPr lang="en-US" sz="1150" dirty="0">
                <a:solidFill>
                  <a:srgbClr val="D7E0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"Match_Score", ascending=False</a:t>
            </a:r>
            <a:endParaRPr lang="en-US" sz="1150" dirty="0"/>
          </a:p>
          <a:p>
            <a:pPr algn="l" indent="0" marL="0">
              <a:lnSpc>
                <a:spcPct val="125000"/>
              </a:lnSpc>
              <a:buNone/>
            </a:pPr>
            <a:r>
              <a:rPr lang="en-US" sz="1150" dirty="0">
                <a:solidFill>
                  <a:srgbClr val="D7E0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).head(top_n)</a:t>
            </a:r>
            <a:endParaRPr lang="en-US" sz="1150" dirty="0"/>
          </a:p>
        </p:txBody>
      </p:sp>
      <p:sp>
        <p:nvSpPr>
          <p:cNvPr id="26" name="Text 24"/>
          <p:cNvSpPr/>
          <p:nvPr/>
        </p:nvSpPr>
        <p:spPr>
          <a:xfrm>
            <a:off x="457200" y="653796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Scholarship Recommendation System</a:t>
            </a:r>
            <a:endParaRPr lang="en-US" sz="900" dirty="0"/>
          </a:p>
        </p:txBody>
      </p:sp>
      <p:sp>
        <p:nvSpPr>
          <p:cNvPr id="27" name="Text 25"/>
          <p:cNvSpPr/>
          <p:nvPr/>
        </p:nvSpPr>
        <p:spPr>
          <a:xfrm>
            <a:off x="11521440" y="6537960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73152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Sample Output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548640" y="1097280"/>
            <a:ext cx="822960" cy="54864"/>
          </a:xfrm>
          <a:prstGeom prst="rect">
            <a:avLst/>
          </a:prstGeom>
          <a:solidFill>
            <a:srgbClr val="F2A93B"/>
          </a:solidFill>
          <a:ln/>
        </p:spPr>
      </p:sp>
      <p:sp>
        <p:nvSpPr>
          <p:cNvPr id="4" name="Shape 2"/>
          <p:cNvSpPr/>
          <p:nvPr/>
        </p:nvSpPr>
        <p:spPr>
          <a:xfrm>
            <a:off x="548640" y="1463040"/>
            <a:ext cx="5120640" cy="914400"/>
          </a:xfrm>
          <a:prstGeom prst="roundRect">
            <a:avLst>
              <a:gd name="adj" fmla="val 8000"/>
            </a:avLst>
          </a:prstGeom>
          <a:solidFill>
            <a:srgbClr val="F5F7FC"/>
          </a:solidFill>
          <a:ln/>
        </p:spPr>
      </p:sp>
      <p:sp>
        <p:nvSpPr>
          <p:cNvPr id="5" name="Text 3"/>
          <p:cNvSpPr/>
          <p:nvPr/>
        </p:nvSpPr>
        <p:spPr>
          <a:xfrm>
            <a:off x="777240" y="1600200"/>
            <a:ext cx="46634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 profile:  </a:t>
            </a:r>
            <a:pPr indent="0" marL="0">
              <a:lnSpc>
                <a:spcPct val="120000"/>
              </a:lnSpc>
              <a:buNone/>
            </a:pPr>
            <a:r>
              <a:rPr lang="en-US" sz="1250" dirty="0">
                <a:solidFill>
                  <a:srgbClr val="1B1B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“computer science, AI, robotics”, Undergraduate, 85%, Female</a:t>
            </a:r>
            <a:endParaRPr lang="en-US" sz="1250" dirty="0"/>
          </a:p>
        </p:txBody>
      </p:sp>
      <p:graphicFrame>
        <p:nvGraphicFramePr>
          <p:cNvPr id="9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2606040"/>
          <a:ext cx="5120640" cy="2011680"/>
        </p:xfrm>
        <a:graphic>
          <a:graphicData uri="http://schemas.openxmlformats.org/drawingml/2006/table">
            <a:tbl>
              <a:tblPr/>
              <a:tblGrid>
                <a:gridCol w="1965960"/>
                <a:gridCol w="1417320"/>
                <a:gridCol w="868680"/>
                <a:gridCol w="868680"/>
              </a:tblGrid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</a:rPr>
                        <a:t>Scholarship</a:t>
                      </a:r>
                      <a:endParaRPr lang="en-US" sz="1200" dirty="0"/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E2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</a:rPr>
                        <a:t>Field</a:t>
                      </a:r>
                      <a:endParaRPr lang="en-US" sz="1200" dirty="0"/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E2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</a:rPr>
                        <a:t>Amount</a:t>
                      </a:r>
                      <a:endParaRPr lang="en-US" sz="1200" dirty="0"/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E2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</a:rPr>
                        <a:t>Match</a:t>
                      </a:r>
                      <a:endParaRPr lang="en-US" sz="1200" dirty="0"/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E2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B1B2F"/>
                          </a:solidFill>
                        </a:rPr>
                        <a:t>Women in STEM Grant</a:t>
                      </a:r>
                      <a:endParaRPr lang="en-US" sz="1150" dirty="0"/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E2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B1B2F"/>
                          </a:solidFill>
                        </a:rPr>
                        <a:t>Computer Science</a:t>
                      </a:r>
                      <a:endParaRPr lang="en-US" sz="1150" dirty="0"/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E2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B1B2F"/>
                          </a:solidFill>
                        </a:rPr>
                        <a:t>$4,000</a:t>
                      </a:r>
                      <a:endParaRPr lang="en-US" sz="1150" dirty="0"/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E2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1F8A47"/>
                          </a:solidFill>
                        </a:rPr>
                        <a:t>45.8%</a:t>
                      </a:r>
                      <a:endParaRPr lang="en-US" sz="1150" dirty="0"/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E2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B1B2F"/>
                          </a:solidFill>
                        </a:rPr>
                        <a:t>National Merit Tech Scholarship</a:t>
                      </a:r>
                      <a:endParaRPr lang="en-US" sz="1150" dirty="0"/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E2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B1B2F"/>
                          </a:solidFill>
                        </a:rPr>
                        <a:t>Computer Science</a:t>
                      </a:r>
                      <a:endParaRPr lang="en-US" sz="1150" dirty="0"/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E2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B1B2F"/>
                          </a:solidFill>
                        </a:rPr>
                        <a:t>$5,000</a:t>
                      </a:r>
                      <a:endParaRPr lang="en-US" sz="1150" dirty="0"/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E2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1F8A47"/>
                          </a:solidFill>
                        </a:rPr>
                        <a:t>35.9%</a:t>
                      </a:r>
                      <a:endParaRPr lang="en-US" sz="1150" dirty="0"/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E2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C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B1B2F"/>
                          </a:solidFill>
                        </a:rPr>
                        <a:t>Girls in Robotics Grant</a:t>
                      </a:r>
                      <a:endParaRPr lang="en-US" sz="1150" dirty="0"/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E2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B1B2F"/>
                          </a:solidFill>
                        </a:rPr>
                        <a:t>Robotics</a:t>
                      </a:r>
                      <a:endParaRPr lang="en-US" sz="1150" dirty="0"/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E2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B1B2F"/>
                          </a:solidFill>
                        </a:rPr>
                        <a:t>$4,200</a:t>
                      </a:r>
                      <a:endParaRPr lang="en-US" sz="1150" dirty="0"/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E2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1F8A47"/>
                          </a:solidFill>
                        </a:rPr>
                        <a:t>25.5%</a:t>
                      </a:r>
                      <a:endParaRPr lang="en-US" sz="1150" dirty="0"/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E2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7" name="Text 4"/>
          <p:cNvSpPr/>
          <p:nvPr/>
        </p:nvSpPr>
        <p:spPr>
          <a:xfrm>
            <a:off x="548640" y="4846320"/>
            <a:ext cx="51206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15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Full ranked results with match score are printed straight to the console (or returned as a DataFrame for further use).</a:t>
            </a:r>
            <a:endParaRPr lang="en-US" sz="1150" dirty="0"/>
          </a:p>
        </p:txBody>
      </p:sp>
      <p:sp>
        <p:nvSpPr>
          <p:cNvPr id="8" name="Shape 5"/>
          <p:cNvSpPr/>
          <p:nvPr/>
        </p:nvSpPr>
        <p:spPr>
          <a:xfrm>
            <a:off x="6035040" y="1463040"/>
            <a:ext cx="5577840" cy="4892040"/>
          </a:xfrm>
          <a:prstGeom prst="roundRect">
            <a:avLst>
              <a:gd name="adj" fmla="val 1869"/>
            </a:avLst>
          </a:prstGeom>
          <a:solidFill>
            <a:srgbClr val="12163A"/>
          </a:solidFill>
          <a:ln/>
        </p:spPr>
      </p:sp>
      <p:sp>
        <p:nvSpPr>
          <p:cNvPr id="9" name="Shape 6"/>
          <p:cNvSpPr/>
          <p:nvPr/>
        </p:nvSpPr>
        <p:spPr>
          <a:xfrm>
            <a:off x="6309360" y="1691640"/>
            <a:ext cx="146304" cy="146304"/>
          </a:xfrm>
          <a:prstGeom prst="ellipse">
            <a:avLst/>
          </a:prstGeom>
          <a:solidFill>
            <a:srgbClr val="FF5F56"/>
          </a:solidFill>
          <a:ln/>
        </p:spPr>
      </p:sp>
      <p:sp>
        <p:nvSpPr>
          <p:cNvPr id="10" name="Shape 7"/>
          <p:cNvSpPr/>
          <p:nvPr/>
        </p:nvSpPr>
        <p:spPr>
          <a:xfrm>
            <a:off x="6519672" y="1691640"/>
            <a:ext cx="146304" cy="146304"/>
          </a:xfrm>
          <a:prstGeom prst="ellipse">
            <a:avLst/>
          </a:prstGeom>
          <a:solidFill>
            <a:srgbClr val="FFBD2E"/>
          </a:solidFill>
          <a:ln/>
        </p:spPr>
      </p:sp>
      <p:sp>
        <p:nvSpPr>
          <p:cNvPr id="11" name="Shape 8"/>
          <p:cNvSpPr/>
          <p:nvPr/>
        </p:nvSpPr>
        <p:spPr>
          <a:xfrm>
            <a:off x="6729984" y="1691640"/>
            <a:ext cx="146304" cy="146304"/>
          </a:xfrm>
          <a:prstGeom prst="ellipse">
            <a:avLst/>
          </a:prstGeom>
          <a:solidFill>
            <a:srgbClr val="27C93F"/>
          </a:solidFill>
          <a:ln/>
        </p:spPr>
      </p:sp>
      <p:sp>
        <p:nvSpPr>
          <p:cNvPr id="12" name="Text 9"/>
          <p:cNvSpPr/>
          <p:nvPr/>
        </p:nvSpPr>
        <p:spPr>
          <a:xfrm>
            <a:off x="6035040" y="1645920"/>
            <a:ext cx="55778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9CA3C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terminal — python src/app.py</a:t>
            </a:r>
            <a:endParaRPr lang="en-US" sz="1050" dirty="0"/>
          </a:p>
        </p:txBody>
      </p:sp>
      <p:sp>
        <p:nvSpPr>
          <p:cNvPr id="13" name="Text 10"/>
          <p:cNvSpPr/>
          <p:nvPr/>
        </p:nvSpPr>
        <p:spPr>
          <a:xfrm>
            <a:off x="6263640" y="2103120"/>
            <a:ext cx="5120640" cy="4114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9BE59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&gt; Finding your best-matching scholarships...</a:t>
            </a:r>
            <a:endParaRPr lang="en-US" sz="1100" dirty="0"/>
          </a:p>
          <a:p>
            <a:pPr algn="l" indent="0" marL="0">
              <a:lnSpc>
                <a:spcPct val="130000"/>
              </a:lnSpc>
              <a:buNone/>
            </a:pPr>
            <a:endParaRPr lang="en-US" sz="1100" dirty="0"/>
          </a:p>
          <a:p>
            <a:pPr algn="l" indent="0" marL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9BE59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1. Women in STEM Grant</a:t>
            </a:r>
            <a:endParaRPr lang="en-US" sz="1100" dirty="0"/>
          </a:p>
          <a:p>
            <a:pPr algn="l" indent="0" marL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9BE59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Field: Computer Science</a:t>
            </a:r>
            <a:endParaRPr lang="en-US" sz="1100" dirty="0"/>
          </a:p>
          <a:p>
            <a:pPr algn="l" indent="0" marL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9BE59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Level: Undergraduate | Category: Diversity</a:t>
            </a:r>
            <a:endParaRPr lang="en-US" sz="1100" dirty="0"/>
          </a:p>
          <a:p>
            <a:pPr algn="l" indent="0" marL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9BE59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Amount: $4000 | Country: USA</a:t>
            </a:r>
            <a:endParaRPr lang="en-US" sz="1100" dirty="0"/>
          </a:p>
          <a:p>
            <a:pPr algn="l" indent="0" marL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9BE59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Match Score: 45.79%</a:t>
            </a:r>
            <a:endParaRPr lang="en-US" sz="1100" dirty="0"/>
          </a:p>
          <a:p>
            <a:pPr algn="l" indent="0" marL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9BE59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------------------------------------------------</a:t>
            </a:r>
            <a:endParaRPr lang="en-US" sz="1100" dirty="0"/>
          </a:p>
          <a:p>
            <a:pPr algn="l" indent="0" marL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9BE59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2. National Merit Tech Scholarship</a:t>
            </a:r>
            <a:endParaRPr lang="en-US" sz="1100" dirty="0"/>
          </a:p>
          <a:p>
            <a:pPr algn="l" indent="0" marL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9BE59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Field: Computer Science</a:t>
            </a:r>
            <a:endParaRPr lang="en-US" sz="1100" dirty="0"/>
          </a:p>
          <a:p>
            <a:pPr algn="l" indent="0" marL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9BE59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Amount: $5000 | Match Score: 35.85%</a:t>
            </a:r>
            <a:endParaRPr lang="en-US" sz="1100" dirty="0"/>
          </a:p>
          <a:p>
            <a:pPr algn="l" indent="0" marL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9BE59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------------------------------------------------</a:t>
            </a:r>
            <a:endParaRPr lang="en-US" sz="1100" dirty="0"/>
          </a:p>
          <a:p>
            <a:pPr algn="l" indent="0" marL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9BE59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3. Girls in Robotics Grant</a:t>
            </a:r>
            <a:endParaRPr lang="en-US" sz="1100" dirty="0"/>
          </a:p>
          <a:p>
            <a:pPr algn="l" indent="0" marL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9BE59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Field: Robotics</a:t>
            </a:r>
            <a:endParaRPr lang="en-US" sz="1100" dirty="0"/>
          </a:p>
          <a:p>
            <a:pPr algn="l" indent="0" marL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9BE59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Amount: $4200 | Match Score: 25.45%</a:t>
            </a:r>
            <a:endParaRPr lang="en-US" sz="1100" dirty="0"/>
          </a:p>
        </p:txBody>
      </p:sp>
      <p:sp>
        <p:nvSpPr>
          <p:cNvPr id="14" name="Text 11"/>
          <p:cNvSpPr/>
          <p:nvPr/>
        </p:nvSpPr>
        <p:spPr>
          <a:xfrm>
            <a:off x="457200" y="653796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Scholarship Recommendation System</a:t>
            </a:r>
            <a:endParaRPr lang="en-US" sz="900" dirty="0"/>
          </a:p>
        </p:txBody>
      </p:sp>
      <p:sp>
        <p:nvSpPr>
          <p:cNvPr id="15" name="Text 12"/>
          <p:cNvSpPr/>
          <p:nvPr/>
        </p:nvSpPr>
        <p:spPr>
          <a:xfrm>
            <a:off x="11521440" y="6537960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91440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Tech Stack &amp; Project Structure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548640" y="1097280"/>
            <a:ext cx="822960" cy="54864"/>
          </a:xfrm>
          <a:prstGeom prst="rect">
            <a:avLst/>
          </a:prstGeom>
          <a:solidFill>
            <a:srgbClr val="F2A93B"/>
          </a:solidFill>
          <a:ln/>
        </p:spPr>
      </p:sp>
      <p:sp>
        <p:nvSpPr>
          <p:cNvPr id="4" name="Shape 2"/>
          <p:cNvSpPr/>
          <p:nvPr/>
        </p:nvSpPr>
        <p:spPr>
          <a:xfrm>
            <a:off x="548640" y="1508760"/>
            <a:ext cx="1965960" cy="1051560"/>
          </a:xfrm>
          <a:prstGeom prst="roundRect">
            <a:avLst>
              <a:gd name="adj" fmla="val 6957"/>
            </a:avLst>
          </a:prstGeom>
          <a:solidFill>
            <a:srgbClr val="F5F7FC"/>
          </a:solidFill>
          <a:ln/>
        </p:spPr>
      </p:sp>
      <p:sp>
        <p:nvSpPr>
          <p:cNvPr id="5" name="Text 3"/>
          <p:cNvSpPr/>
          <p:nvPr/>
        </p:nvSpPr>
        <p:spPr>
          <a:xfrm>
            <a:off x="548640" y="1572768"/>
            <a:ext cx="19659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000000"/>
                </a:solidFill>
              </a:rPr>
              <a:t>🐍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548640" y="2057400"/>
            <a:ext cx="19659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Python 3</a:t>
            </a:r>
            <a:endParaRPr lang="en-US" sz="1150" dirty="0"/>
          </a:p>
        </p:txBody>
      </p:sp>
      <p:sp>
        <p:nvSpPr>
          <p:cNvPr id="7" name="Shape 5"/>
          <p:cNvSpPr/>
          <p:nvPr/>
        </p:nvSpPr>
        <p:spPr>
          <a:xfrm>
            <a:off x="2697480" y="1508760"/>
            <a:ext cx="1965960" cy="1051560"/>
          </a:xfrm>
          <a:prstGeom prst="roundRect">
            <a:avLst>
              <a:gd name="adj" fmla="val 6957"/>
            </a:avLst>
          </a:prstGeom>
          <a:solidFill>
            <a:srgbClr val="F5F7FC"/>
          </a:solidFill>
          <a:ln/>
        </p:spPr>
      </p:sp>
      <p:sp>
        <p:nvSpPr>
          <p:cNvPr id="8" name="Text 6"/>
          <p:cNvSpPr/>
          <p:nvPr/>
        </p:nvSpPr>
        <p:spPr>
          <a:xfrm>
            <a:off x="2697480" y="1572768"/>
            <a:ext cx="19659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000000"/>
                </a:solidFill>
              </a:rPr>
              <a:t>🐼</a:t>
            </a:r>
            <a:endParaRPr lang="en-US" sz="2200" dirty="0"/>
          </a:p>
        </p:txBody>
      </p:sp>
      <p:sp>
        <p:nvSpPr>
          <p:cNvPr id="9" name="Text 7"/>
          <p:cNvSpPr/>
          <p:nvPr/>
        </p:nvSpPr>
        <p:spPr>
          <a:xfrm>
            <a:off x="2697480" y="2057400"/>
            <a:ext cx="19659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pandas</a:t>
            </a:r>
            <a:endParaRPr lang="en-US" sz="1150" dirty="0"/>
          </a:p>
        </p:txBody>
      </p:sp>
      <p:sp>
        <p:nvSpPr>
          <p:cNvPr id="10" name="Shape 8"/>
          <p:cNvSpPr/>
          <p:nvPr/>
        </p:nvSpPr>
        <p:spPr>
          <a:xfrm>
            <a:off x="4846320" y="1508760"/>
            <a:ext cx="1965960" cy="1051560"/>
          </a:xfrm>
          <a:prstGeom prst="roundRect">
            <a:avLst>
              <a:gd name="adj" fmla="val 6957"/>
            </a:avLst>
          </a:prstGeom>
          <a:solidFill>
            <a:srgbClr val="F5F7FC"/>
          </a:solidFill>
          <a:ln/>
        </p:spPr>
      </p:sp>
      <p:sp>
        <p:nvSpPr>
          <p:cNvPr id="11" name="Text 9"/>
          <p:cNvSpPr/>
          <p:nvPr/>
        </p:nvSpPr>
        <p:spPr>
          <a:xfrm>
            <a:off x="4846320" y="1572768"/>
            <a:ext cx="19659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000000"/>
                </a:solidFill>
              </a:rPr>
              <a:t>🔬</a:t>
            </a:r>
            <a:endParaRPr lang="en-US" sz="2200" dirty="0"/>
          </a:p>
        </p:txBody>
      </p:sp>
      <p:sp>
        <p:nvSpPr>
          <p:cNvPr id="12" name="Text 10"/>
          <p:cNvSpPr/>
          <p:nvPr/>
        </p:nvSpPr>
        <p:spPr>
          <a:xfrm>
            <a:off x="4846320" y="2057400"/>
            <a:ext cx="19659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scikit-learn</a:t>
            </a:r>
            <a:endParaRPr lang="en-US" sz="1150" dirty="0"/>
          </a:p>
        </p:txBody>
      </p:sp>
      <p:sp>
        <p:nvSpPr>
          <p:cNvPr id="13" name="Shape 11"/>
          <p:cNvSpPr/>
          <p:nvPr/>
        </p:nvSpPr>
        <p:spPr>
          <a:xfrm>
            <a:off x="6995160" y="1508760"/>
            <a:ext cx="1965960" cy="1051560"/>
          </a:xfrm>
          <a:prstGeom prst="roundRect">
            <a:avLst>
              <a:gd name="adj" fmla="val 6957"/>
            </a:avLst>
          </a:prstGeom>
          <a:solidFill>
            <a:srgbClr val="F5F7FC"/>
          </a:solidFill>
          <a:ln/>
        </p:spPr>
      </p:sp>
      <p:sp>
        <p:nvSpPr>
          <p:cNvPr id="14" name="Text 12"/>
          <p:cNvSpPr/>
          <p:nvPr/>
        </p:nvSpPr>
        <p:spPr>
          <a:xfrm>
            <a:off x="6995160" y="1572768"/>
            <a:ext cx="19659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000000"/>
                </a:solidFill>
              </a:rPr>
              <a:t>✅</a:t>
            </a:r>
            <a:endParaRPr lang="en-US" sz="2200" dirty="0"/>
          </a:p>
        </p:txBody>
      </p:sp>
      <p:sp>
        <p:nvSpPr>
          <p:cNvPr id="15" name="Text 13"/>
          <p:cNvSpPr/>
          <p:nvPr/>
        </p:nvSpPr>
        <p:spPr>
          <a:xfrm>
            <a:off x="6995160" y="2057400"/>
            <a:ext cx="19659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pytest</a:t>
            </a:r>
            <a:endParaRPr lang="en-US" sz="1150" dirty="0"/>
          </a:p>
        </p:txBody>
      </p:sp>
      <p:sp>
        <p:nvSpPr>
          <p:cNvPr id="16" name="Shape 14"/>
          <p:cNvSpPr/>
          <p:nvPr/>
        </p:nvSpPr>
        <p:spPr>
          <a:xfrm>
            <a:off x="9144000" y="1508760"/>
            <a:ext cx="1965960" cy="1051560"/>
          </a:xfrm>
          <a:prstGeom prst="roundRect">
            <a:avLst>
              <a:gd name="adj" fmla="val 6957"/>
            </a:avLst>
          </a:prstGeom>
          <a:solidFill>
            <a:srgbClr val="F5F7FC"/>
          </a:solidFill>
          <a:ln/>
        </p:spPr>
      </p:sp>
      <p:sp>
        <p:nvSpPr>
          <p:cNvPr id="17" name="Text 15"/>
          <p:cNvSpPr/>
          <p:nvPr/>
        </p:nvSpPr>
        <p:spPr>
          <a:xfrm>
            <a:off x="9144000" y="1572768"/>
            <a:ext cx="19659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000000"/>
                </a:solidFill>
              </a:rPr>
              <a:t>📁</a:t>
            </a:r>
            <a:endParaRPr lang="en-US" sz="2200" dirty="0"/>
          </a:p>
        </p:txBody>
      </p:sp>
      <p:sp>
        <p:nvSpPr>
          <p:cNvPr id="18" name="Text 16"/>
          <p:cNvSpPr/>
          <p:nvPr/>
        </p:nvSpPr>
        <p:spPr>
          <a:xfrm>
            <a:off x="9144000" y="2057400"/>
            <a:ext cx="19659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GitHub-ready</a:t>
            </a:r>
            <a:endParaRPr lang="en-US" sz="1150" dirty="0"/>
          </a:p>
        </p:txBody>
      </p:sp>
      <p:sp>
        <p:nvSpPr>
          <p:cNvPr id="19" name="Shape 17"/>
          <p:cNvSpPr/>
          <p:nvPr/>
        </p:nvSpPr>
        <p:spPr>
          <a:xfrm>
            <a:off x="548640" y="2880360"/>
            <a:ext cx="5486400" cy="3520440"/>
          </a:xfrm>
          <a:prstGeom prst="roundRect">
            <a:avLst>
              <a:gd name="adj" fmla="val 2597"/>
            </a:avLst>
          </a:prstGeom>
          <a:solidFill>
            <a:srgbClr val="12163A"/>
          </a:solidFill>
          <a:ln/>
        </p:spPr>
      </p:sp>
      <p:sp>
        <p:nvSpPr>
          <p:cNvPr id="20" name="Text 18"/>
          <p:cNvSpPr/>
          <p:nvPr/>
        </p:nvSpPr>
        <p:spPr>
          <a:xfrm>
            <a:off x="777240" y="3063240"/>
            <a:ext cx="5029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2A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PROJECT STRUCTURE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777240" y="3429000"/>
            <a:ext cx="5029200" cy="2880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30000"/>
              </a:lnSpc>
              <a:buNone/>
            </a:pPr>
            <a:r>
              <a:rPr lang="en-US" sz="1200" dirty="0">
                <a:solidFill>
                  <a:srgbClr val="D7E0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scholarship-project/</a:t>
            </a:r>
            <a:endParaRPr lang="en-US" sz="12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200" dirty="0">
                <a:solidFill>
                  <a:srgbClr val="D7E0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├── data/scholarships.csv</a:t>
            </a:r>
            <a:endParaRPr lang="en-US" sz="12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200" dirty="0">
                <a:solidFill>
                  <a:srgbClr val="D7E0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├── src/</a:t>
            </a:r>
            <a:endParaRPr lang="en-US" sz="12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200" dirty="0">
                <a:solidFill>
                  <a:srgbClr val="D7E0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│   ├── recommender.py</a:t>
            </a:r>
            <a:endParaRPr lang="en-US" sz="12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200" dirty="0">
                <a:solidFill>
                  <a:srgbClr val="D7E0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│   ├── app.py</a:t>
            </a:r>
            <a:endParaRPr lang="en-US" sz="12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200" dirty="0">
                <a:solidFill>
                  <a:srgbClr val="D7E0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│   └── demo.py</a:t>
            </a:r>
            <a:endParaRPr lang="en-US" sz="12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200" dirty="0">
                <a:solidFill>
                  <a:srgbClr val="D7E0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├── tests/test_recommender.py</a:t>
            </a:r>
            <a:endParaRPr lang="en-US" sz="12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200" dirty="0">
                <a:solidFill>
                  <a:srgbClr val="D7E0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├── docs/ (this presentation)</a:t>
            </a:r>
            <a:endParaRPr lang="en-US" sz="12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200" dirty="0">
                <a:solidFill>
                  <a:srgbClr val="D7E0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├── requirements.txt</a:t>
            </a:r>
            <a:endParaRPr lang="en-US" sz="12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200" dirty="0">
                <a:solidFill>
                  <a:srgbClr val="D7E0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├── README.md</a:t>
            </a:r>
            <a:endParaRPr lang="en-US" sz="12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200" dirty="0">
                <a:solidFill>
                  <a:srgbClr val="D7E0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└── LICENSE</a:t>
            </a:r>
            <a:endParaRPr lang="en-US" sz="1200" dirty="0"/>
          </a:p>
        </p:txBody>
      </p:sp>
      <p:sp>
        <p:nvSpPr>
          <p:cNvPr id="22" name="Shape 20"/>
          <p:cNvSpPr/>
          <p:nvPr/>
        </p:nvSpPr>
        <p:spPr>
          <a:xfrm>
            <a:off x="6309360" y="2880360"/>
            <a:ext cx="5303520" cy="3520440"/>
          </a:xfrm>
          <a:prstGeom prst="roundRect">
            <a:avLst>
              <a:gd name="adj" fmla="val 2597"/>
            </a:avLst>
          </a:prstGeom>
          <a:solidFill>
            <a:srgbClr val="1E2761"/>
          </a:solidFill>
          <a:ln/>
        </p:spPr>
      </p:sp>
      <p:sp>
        <p:nvSpPr>
          <p:cNvPr id="23" name="Shape 21"/>
          <p:cNvSpPr/>
          <p:nvPr/>
        </p:nvSpPr>
        <p:spPr>
          <a:xfrm>
            <a:off x="6583680" y="3154680"/>
            <a:ext cx="594360" cy="594360"/>
          </a:xfrm>
          <a:prstGeom prst="ellipse">
            <a:avLst/>
          </a:prstGeom>
          <a:solidFill>
            <a:srgbClr val="F2A93B"/>
          </a:solidFill>
          <a:ln/>
        </p:spPr>
      </p:sp>
      <p:sp>
        <p:nvSpPr>
          <p:cNvPr id="24" name="Text 22"/>
          <p:cNvSpPr/>
          <p:nvPr/>
        </p:nvSpPr>
        <p:spPr>
          <a:xfrm>
            <a:off x="6583680" y="3154680"/>
            <a:ext cx="5943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1B1B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🐙</a:t>
            </a:r>
            <a:endParaRPr lang="en-US" sz="2400" dirty="0"/>
          </a:p>
        </p:txBody>
      </p:sp>
      <p:sp>
        <p:nvSpPr>
          <p:cNvPr id="25" name="Text 23"/>
          <p:cNvSpPr/>
          <p:nvPr/>
        </p:nvSpPr>
        <p:spPr>
          <a:xfrm>
            <a:off x="7269480" y="3200400"/>
            <a:ext cx="42062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Ready for GitHub</a:t>
            </a:r>
            <a:endParaRPr lang="en-US" sz="1600" dirty="0"/>
          </a:p>
        </p:txBody>
      </p:sp>
      <p:sp>
        <p:nvSpPr>
          <p:cNvPr id="26" name="Shape 24"/>
          <p:cNvSpPr/>
          <p:nvPr/>
        </p:nvSpPr>
        <p:spPr>
          <a:xfrm>
            <a:off x="6583680" y="4032504"/>
            <a:ext cx="109728" cy="109728"/>
          </a:xfrm>
          <a:prstGeom prst="ellipse">
            <a:avLst/>
          </a:prstGeom>
          <a:solidFill>
            <a:srgbClr val="F2A93B"/>
          </a:solidFill>
          <a:ln/>
        </p:spPr>
      </p:sp>
      <p:sp>
        <p:nvSpPr>
          <p:cNvPr id="27" name="Text 25"/>
          <p:cNvSpPr/>
          <p:nvPr/>
        </p:nvSpPr>
        <p:spPr>
          <a:xfrm>
            <a:off x="6858000" y="3867912"/>
            <a:ext cx="44805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Clean modular code (recommender / app separated)</a:t>
            </a:r>
            <a:endParaRPr lang="en-US" sz="1250" dirty="0"/>
          </a:p>
        </p:txBody>
      </p:sp>
      <p:sp>
        <p:nvSpPr>
          <p:cNvPr id="28" name="Shape 26"/>
          <p:cNvSpPr/>
          <p:nvPr/>
        </p:nvSpPr>
        <p:spPr>
          <a:xfrm>
            <a:off x="6583680" y="4507992"/>
            <a:ext cx="109728" cy="109728"/>
          </a:xfrm>
          <a:prstGeom prst="ellipse">
            <a:avLst/>
          </a:prstGeom>
          <a:solidFill>
            <a:srgbClr val="F2A93B"/>
          </a:solidFill>
          <a:ln/>
        </p:spPr>
      </p:sp>
      <p:sp>
        <p:nvSpPr>
          <p:cNvPr id="29" name="Text 27"/>
          <p:cNvSpPr/>
          <p:nvPr/>
        </p:nvSpPr>
        <p:spPr>
          <a:xfrm>
            <a:off x="6858000" y="4343400"/>
            <a:ext cx="44805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requirements.txt for one-line setup</a:t>
            </a:r>
            <a:endParaRPr lang="en-US" sz="1250" dirty="0"/>
          </a:p>
        </p:txBody>
      </p:sp>
      <p:sp>
        <p:nvSpPr>
          <p:cNvPr id="30" name="Shape 28"/>
          <p:cNvSpPr/>
          <p:nvPr/>
        </p:nvSpPr>
        <p:spPr>
          <a:xfrm>
            <a:off x="6583680" y="4983480"/>
            <a:ext cx="109728" cy="109728"/>
          </a:xfrm>
          <a:prstGeom prst="ellipse">
            <a:avLst/>
          </a:prstGeom>
          <a:solidFill>
            <a:srgbClr val="F2A93B"/>
          </a:solidFill>
          <a:ln/>
        </p:spPr>
      </p:sp>
      <p:sp>
        <p:nvSpPr>
          <p:cNvPr id="31" name="Text 29"/>
          <p:cNvSpPr/>
          <p:nvPr/>
        </p:nvSpPr>
        <p:spPr>
          <a:xfrm>
            <a:off x="6858000" y="4818888"/>
            <a:ext cx="44805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Unit tests included (pytest)</a:t>
            </a:r>
            <a:endParaRPr lang="en-US" sz="1250" dirty="0"/>
          </a:p>
        </p:txBody>
      </p:sp>
      <p:sp>
        <p:nvSpPr>
          <p:cNvPr id="32" name="Shape 30"/>
          <p:cNvSpPr/>
          <p:nvPr/>
        </p:nvSpPr>
        <p:spPr>
          <a:xfrm>
            <a:off x="6583680" y="5458968"/>
            <a:ext cx="109728" cy="109728"/>
          </a:xfrm>
          <a:prstGeom prst="ellipse">
            <a:avLst/>
          </a:prstGeom>
          <a:solidFill>
            <a:srgbClr val="F2A93B"/>
          </a:solidFill>
          <a:ln/>
        </p:spPr>
      </p:sp>
      <p:sp>
        <p:nvSpPr>
          <p:cNvPr id="33" name="Text 31"/>
          <p:cNvSpPr/>
          <p:nvPr/>
        </p:nvSpPr>
        <p:spPr>
          <a:xfrm>
            <a:off x="6858000" y="5294376"/>
            <a:ext cx="44805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MIT LICENSE + .gitignore included</a:t>
            </a:r>
            <a:endParaRPr lang="en-US" sz="1250" dirty="0"/>
          </a:p>
        </p:txBody>
      </p:sp>
      <p:sp>
        <p:nvSpPr>
          <p:cNvPr id="34" name="Shape 32"/>
          <p:cNvSpPr/>
          <p:nvPr/>
        </p:nvSpPr>
        <p:spPr>
          <a:xfrm>
            <a:off x="6583680" y="5934456"/>
            <a:ext cx="109728" cy="109728"/>
          </a:xfrm>
          <a:prstGeom prst="ellipse">
            <a:avLst/>
          </a:prstGeom>
          <a:solidFill>
            <a:srgbClr val="F2A93B"/>
          </a:solidFill>
          <a:ln/>
        </p:spPr>
      </p:sp>
      <p:sp>
        <p:nvSpPr>
          <p:cNvPr id="35" name="Text 33"/>
          <p:cNvSpPr/>
          <p:nvPr/>
        </p:nvSpPr>
        <p:spPr>
          <a:xfrm>
            <a:off x="6858000" y="5769864"/>
            <a:ext cx="44805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README with setup &amp; usage instructions</a:t>
            </a:r>
            <a:endParaRPr lang="en-US" sz="1250" dirty="0"/>
          </a:p>
        </p:txBody>
      </p:sp>
      <p:sp>
        <p:nvSpPr>
          <p:cNvPr id="36" name="Text 34"/>
          <p:cNvSpPr/>
          <p:nvPr/>
        </p:nvSpPr>
        <p:spPr>
          <a:xfrm>
            <a:off x="457200" y="653796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Scholarship Recommendation System</a:t>
            </a:r>
            <a:endParaRPr lang="en-US" sz="900" dirty="0"/>
          </a:p>
        </p:txBody>
      </p:sp>
      <p:sp>
        <p:nvSpPr>
          <p:cNvPr id="37" name="Text 35"/>
          <p:cNvSpPr/>
          <p:nvPr/>
        </p:nvSpPr>
        <p:spPr>
          <a:xfrm>
            <a:off x="11521440" y="6537960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1E276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1371600" y="-1371600"/>
            <a:ext cx="3657600" cy="3657600"/>
          </a:xfrm>
          <a:prstGeom prst="ellipse">
            <a:avLst/>
          </a:prstGeom>
          <a:solidFill>
            <a:srgbClr val="263876"/>
          </a:solidFill>
          <a:ln/>
        </p:spPr>
      </p:sp>
      <p:sp>
        <p:nvSpPr>
          <p:cNvPr id="3" name="Shape 1"/>
          <p:cNvSpPr/>
          <p:nvPr/>
        </p:nvSpPr>
        <p:spPr>
          <a:xfrm>
            <a:off x="10515600" y="5029200"/>
            <a:ext cx="3200400" cy="3200400"/>
          </a:xfrm>
          <a:prstGeom prst="ellipse">
            <a:avLst/>
          </a:prstGeom>
          <a:solidFill>
            <a:srgbClr val="263876"/>
          </a:solidFill>
          <a:ln/>
        </p:spPr>
      </p:sp>
      <p:sp>
        <p:nvSpPr>
          <p:cNvPr id="4" name="Text 2"/>
          <p:cNvSpPr/>
          <p:nvPr/>
        </p:nvSpPr>
        <p:spPr>
          <a:xfrm>
            <a:off x="548640" y="502920"/>
            <a:ext cx="91440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Conclusion &amp; Future Scope</a:t>
            </a:r>
            <a:endParaRPr lang="en-US" sz="3200" dirty="0"/>
          </a:p>
        </p:txBody>
      </p:sp>
      <p:sp>
        <p:nvSpPr>
          <p:cNvPr id="5" name="Shape 3"/>
          <p:cNvSpPr/>
          <p:nvPr/>
        </p:nvSpPr>
        <p:spPr>
          <a:xfrm>
            <a:off x="548640" y="1188720"/>
            <a:ext cx="822960" cy="54864"/>
          </a:xfrm>
          <a:prstGeom prst="rect">
            <a:avLst/>
          </a:prstGeom>
          <a:solidFill>
            <a:srgbClr val="F2A93B"/>
          </a:solidFill>
          <a:ln/>
        </p:spPr>
      </p:sp>
      <p:sp>
        <p:nvSpPr>
          <p:cNvPr id="6" name="Text 4"/>
          <p:cNvSpPr/>
          <p:nvPr/>
        </p:nvSpPr>
        <p:spPr>
          <a:xfrm>
            <a:off x="548640" y="1554480"/>
            <a:ext cx="5577840" cy="1645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5000"/>
              </a:lnSpc>
              <a:buNone/>
            </a:pPr>
            <a:r>
              <a:rPr lang="en-US" sz="14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working, explainable recommendation engine that combines rule-based logic with TF-IDF similarity matching — the same core idea behind production recommender systems, built at a scale that's easy to understand, present, and extend.</a:t>
            </a:r>
            <a:endParaRPr lang="en-US" sz="1450" dirty="0"/>
          </a:p>
        </p:txBody>
      </p:sp>
      <p:sp>
        <p:nvSpPr>
          <p:cNvPr id="7" name="Text 5"/>
          <p:cNvSpPr/>
          <p:nvPr/>
        </p:nvSpPr>
        <p:spPr>
          <a:xfrm>
            <a:off x="548640" y="3383280"/>
            <a:ext cx="3657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2A9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What's next</a:t>
            </a:r>
            <a:endParaRPr lang="en-US" sz="1500" dirty="0"/>
          </a:p>
        </p:txBody>
      </p:sp>
      <p:sp>
        <p:nvSpPr>
          <p:cNvPr id="8" name="Shape 6"/>
          <p:cNvSpPr/>
          <p:nvPr/>
        </p:nvSpPr>
        <p:spPr>
          <a:xfrm>
            <a:off x="548640" y="3886200"/>
            <a:ext cx="109728" cy="109728"/>
          </a:xfrm>
          <a:prstGeom prst="ellipse">
            <a:avLst/>
          </a:prstGeom>
          <a:solidFill>
            <a:srgbClr val="F2A93B"/>
          </a:solidFill>
          <a:ln/>
        </p:spPr>
      </p:sp>
      <p:sp>
        <p:nvSpPr>
          <p:cNvPr id="9" name="Text 7"/>
          <p:cNvSpPr/>
          <p:nvPr/>
        </p:nvSpPr>
        <p:spPr>
          <a:xfrm>
            <a:off x="822960" y="3721608"/>
            <a:ext cx="51206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Streamlit / Flask web interface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548640" y="4389120"/>
            <a:ext cx="109728" cy="109728"/>
          </a:xfrm>
          <a:prstGeom prst="ellipse">
            <a:avLst/>
          </a:prstGeom>
          <a:solidFill>
            <a:srgbClr val="F2A93B"/>
          </a:solidFill>
          <a:ln/>
        </p:spPr>
      </p:sp>
      <p:sp>
        <p:nvSpPr>
          <p:cNvPr id="11" name="Text 9"/>
          <p:cNvSpPr/>
          <p:nvPr/>
        </p:nvSpPr>
        <p:spPr>
          <a:xfrm>
            <a:off x="822960" y="4224528"/>
            <a:ext cx="51206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Collaborative filtering from real applications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548640" y="4892040"/>
            <a:ext cx="109728" cy="109728"/>
          </a:xfrm>
          <a:prstGeom prst="ellipse">
            <a:avLst/>
          </a:prstGeom>
          <a:solidFill>
            <a:srgbClr val="F2A93B"/>
          </a:solidFill>
          <a:ln/>
        </p:spPr>
      </p:sp>
      <p:sp>
        <p:nvSpPr>
          <p:cNvPr id="13" name="Text 11"/>
          <p:cNvSpPr/>
          <p:nvPr/>
        </p:nvSpPr>
        <p:spPr>
          <a:xfrm>
            <a:off x="822960" y="4727448"/>
            <a:ext cx="51206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Larger, real-world scholarship dataset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548640" y="5394960"/>
            <a:ext cx="109728" cy="109728"/>
          </a:xfrm>
          <a:prstGeom prst="ellipse">
            <a:avLst/>
          </a:prstGeom>
          <a:solidFill>
            <a:srgbClr val="F2A93B"/>
          </a:solidFill>
          <a:ln/>
        </p:spPr>
      </p:sp>
      <p:sp>
        <p:nvSpPr>
          <p:cNvPr id="15" name="Text 13"/>
          <p:cNvSpPr/>
          <p:nvPr/>
        </p:nvSpPr>
        <p:spPr>
          <a:xfrm>
            <a:off x="822960" y="5230368"/>
            <a:ext cx="51206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Deadline reminders &amp; notifications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6949440" y="1737360"/>
            <a:ext cx="4663440" cy="3566160"/>
          </a:xfrm>
          <a:prstGeom prst="roundRect">
            <a:avLst>
              <a:gd name="adj" fmla="val 3077"/>
            </a:avLst>
          </a:prstGeom>
          <a:solidFill>
            <a:srgbClr val="F2A93B"/>
          </a:solidFill>
          <a:ln/>
        </p:spPr>
      </p:sp>
      <p:sp>
        <p:nvSpPr>
          <p:cNvPr id="17" name="Text 15"/>
          <p:cNvSpPr/>
          <p:nvPr/>
        </p:nvSpPr>
        <p:spPr>
          <a:xfrm>
            <a:off x="6949440" y="2286000"/>
            <a:ext cx="46634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1B1B2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Thank You</a:t>
            </a:r>
            <a:endParaRPr lang="en-US" sz="3000" dirty="0"/>
          </a:p>
        </p:txBody>
      </p:sp>
      <p:sp>
        <p:nvSpPr>
          <p:cNvPr id="18" name="Text 16"/>
          <p:cNvSpPr/>
          <p:nvPr/>
        </p:nvSpPr>
        <p:spPr>
          <a:xfrm>
            <a:off x="6949440" y="3017520"/>
            <a:ext cx="46634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1B1B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Questions &amp; Feedback Welcome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6949440" y="4023360"/>
            <a:ext cx="46634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30000"/>
              </a:lnSpc>
              <a:buNone/>
            </a:pPr>
            <a:r>
              <a:rPr lang="en-US" sz="1200" dirty="0">
                <a:solidFill>
                  <a:srgbClr val="1B1B2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github.com/&lt;your-username&gt;/</a:t>
            </a:r>
            <a:endParaRPr lang="en-US" sz="1200" dirty="0"/>
          </a:p>
          <a:p>
            <a:pPr algn="ctr" indent="0" marL="0">
              <a:lnSpc>
                <a:spcPct val="130000"/>
              </a:lnSpc>
              <a:buNone/>
            </a:pPr>
            <a:r>
              <a:rPr lang="en-US" sz="1200" dirty="0">
                <a:solidFill>
                  <a:srgbClr val="1B1B2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ai-scholarship-recommendation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457200" y="653796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Scholarship Recommendation System</a:t>
            </a:r>
            <a:endParaRPr lang="en-US" sz="900" dirty="0"/>
          </a:p>
        </p:txBody>
      </p:sp>
      <p:sp>
        <p:nvSpPr>
          <p:cNvPr id="21" name="Text 19"/>
          <p:cNvSpPr/>
          <p:nvPr/>
        </p:nvSpPr>
        <p:spPr>
          <a:xfrm>
            <a:off x="11521440" y="6537960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2026-07-29T07:41:29Z</dcterms:created>
  <dcterms:modified xsi:type="dcterms:W3CDTF">2026-07-29T07:41:29Z</dcterms:modified>
</cp:coreProperties>
</file>